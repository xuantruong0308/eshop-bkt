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670" r:id="rId5"/>
    <p:sldMasterId id="2147483682" r:id="rId6"/>
  </p:sldMasterIdLst>
  <p:notesMasterIdLst>
    <p:notesMasterId r:id="rId27"/>
  </p:notesMasterIdLst>
  <p:sldIdLst>
    <p:sldId id="256" r:id="rId7"/>
    <p:sldId id="257" r:id="rId8"/>
    <p:sldId id="6545" r:id="rId9"/>
    <p:sldId id="259" r:id="rId10"/>
    <p:sldId id="262" r:id="rId11"/>
    <p:sldId id="263" r:id="rId12"/>
    <p:sldId id="6548" r:id="rId13"/>
    <p:sldId id="6549" r:id="rId14"/>
    <p:sldId id="6581" r:id="rId15"/>
    <p:sldId id="271" r:id="rId16"/>
    <p:sldId id="6577" r:id="rId17"/>
    <p:sldId id="335" r:id="rId18"/>
    <p:sldId id="293" r:id="rId19"/>
    <p:sldId id="295" r:id="rId20"/>
    <p:sldId id="276" r:id="rId21"/>
    <p:sldId id="6579" r:id="rId22"/>
    <p:sldId id="279" r:id="rId23"/>
    <p:sldId id="317" r:id="rId24"/>
    <p:sldId id="319" r:id="rId25"/>
    <p:sldId id="282" r:id="rId26"/>
  </p:sldIdLst>
  <p:sldSz cx="9144000" cy="5143500" type="screen16x9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7D9C"/>
    <a:srgbClr val="048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5D273-20A8-A393-67C0-C90827C33276}" v="2" dt="2026-06-12T02:34:07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728"/>
  </p:normalViewPr>
  <p:slideViewPr>
    <p:cSldViewPr snapToGrid="0">
      <p:cViewPr varScale="1">
        <p:scale>
          <a:sx n="87" d="100"/>
          <a:sy n="87" d="100"/>
        </p:scale>
        <p:origin x="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ong Van Ly (Larry)" userId="S::lytv@rikkeisoft.com::034eaae5-a79b-4efd-b20f-23159234da66" providerId="AD" clId="Web-{AEF5D273-20A8-A393-67C0-C90827C33276}"/>
    <pc:docChg chg="modSld">
      <pc:chgData name="Truong Van Ly (Larry)" userId="S::lytv@rikkeisoft.com::034eaae5-a79b-4efd-b20f-23159234da66" providerId="AD" clId="Web-{AEF5D273-20A8-A393-67C0-C90827C33276}" dt="2026-06-12T02:34:07.566" v="1" actId="1076"/>
      <pc:docMkLst>
        <pc:docMk/>
      </pc:docMkLst>
      <pc:sldChg chg="delSp modSp">
        <pc:chgData name="Truong Van Ly (Larry)" userId="S::lytv@rikkeisoft.com::034eaae5-a79b-4efd-b20f-23159234da66" providerId="AD" clId="Web-{AEF5D273-20A8-A393-67C0-C90827C33276}" dt="2026-06-12T02:34:07.566" v="1" actId="1076"/>
        <pc:sldMkLst>
          <pc:docMk/>
          <pc:sldMk cId="0" sldId="256"/>
        </pc:sldMkLst>
        <pc:spChg chg="mod">
          <ac:chgData name="Truong Van Ly (Larry)" userId="S::lytv@rikkeisoft.com::034eaae5-a79b-4efd-b20f-23159234da66" providerId="AD" clId="Web-{AEF5D273-20A8-A393-67C0-C90827C33276}" dt="2026-06-12T02:34:07.566" v="1" actId="1076"/>
          <ac:spMkLst>
            <pc:docMk/>
            <pc:sldMk cId="0" sldId="256"/>
            <ac:spMk id="117" creationId="{00000000-0000-0000-0000-000000000000}"/>
          </ac:spMkLst>
        </pc:spChg>
        <pc:picChg chg="del">
          <ac:chgData name="Truong Van Ly (Larry)" userId="S::lytv@rikkeisoft.com::034eaae5-a79b-4efd-b20f-23159234da66" providerId="AD" clId="Web-{AEF5D273-20A8-A393-67C0-C90827C33276}" dt="2026-06-12T02:34:00.581" v="0"/>
          <ac:picMkLst>
            <pc:docMk/>
            <pc:sldMk cId="0" sldId="256"/>
            <ac:picMk id="6" creationId="{3B663627-F483-7B09-928A-09194587BD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Click to move the slide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dt" idx="5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15" name="PlaceHolder 5"/>
          <p:cNvSpPr>
            <a:spLocks noGrp="1"/>
          </p:cNvSpPr>
          <p:nvPr>
            <p:ph type="ftr" idx="5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6" name="PlaceHolder 6"/>
          <p:cNvSpPr>
            <a:spLocks noGrp="1"/>
          </p:cNvSpPr>
          <p:nvPr>
            <p:ph type="sldNum" idx="5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C0B4E2A-0569-49ED-B9C7-CA26B6F3860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E74F43-C1BB-4035-894D-F1F9E4A8858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64F98D-6533-4661-A4DD-B295B18FB08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6858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</a:pPr>
            <a:fld id="{0AA6115C-AB74-4097-A317-DDAE4CA077A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4A0974-AFD1-4C4D-BD10-ADDAE46413E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75A58D91-F948-4ABE-BF8D-9C585981840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B7850DB7-B9FF-4AF3-AFA6-E527D3322FB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RKT] Confidential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5269728"/>
            <a:ext cx="2057400" cy="273844"/>
          </a:xfrm>
        </p:spPr>
        <p:txBody>
          <a:bodyPr/>
          <a:lstStyle/>
          <a:p>
            <a:fld id="{AE2839D6-CA10-4FAB-9EBF-11A7B9DCE809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3" y="5272110"/>
            <a:ext cx="1301621" cy="2714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76539-8C14-05F6-9A61-F4230C8242F3}"/>
              </a:ext>
            </a:extLst>
          </p:cNvPr>
          <p:cNvSpPr/>
          <p:nvPr/>
        </p:nvSpPr>
        <p:spPr>
          <a:xfrm>
            <a:off x="0" y="-2476"/>
            <a:ext cx="9144000" cy="54972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err="1"/>
              <a:t>i</a:t>
            </a:r>
            <a:endParaRPr lang="en-US" sz="1013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5555FD-F210-49ED-AAA7-4596EE66DC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3"/>
            <a:ext cx="9143998" cy="55657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D7C86F8-D767-4AC2-986D-1B4C913F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2052" y="218116"/>
            <a:ext cx="308622" cy="12034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700"/>
            </a:lvl1pPr>
          </a:lstStyle>
          <a:p>
            <a:fld id="{A9DE2F7D-52E7-4AE0-8168-9585849E0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6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dt" idx="20"/>
          </p:nvPr>
        </p:nvSpPr>
        <p:spPr>
          <a:xfrm>
            <a:off x="0" y="526968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6858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defTabSz="6858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Montserrat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21"/>
          </p:nvPr>
        </p:nvSpPr>
        <p:spPr>
          <a:xfrm>
            <a:off x="2057400" y="5272200"/>
            <a:ext cx="1301400" cy="27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5" name="Rectangle 6"/>
          <p:cNvSpPr/>
          <p:nvPr/>
        </p:nvSpPr>
        <p:spPr>
          <a:xfrm>
            <a:off x="0" y="-2520"/>
            <a:ext cx="9143640" cy="549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20" dist="38160" dir="5400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010" b="0" strike="noStrike" spc="-1">
                <a:solidFill>
                  <a:schemeClr val="lt1"/>
                </a:solidFill>
                <a:latin typeface="Montserrat"/>
              </a:rPr>
              <a:t>i</a:t>
            </a:r>
            <a:endParaRPr lang="en-US" sz="101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Picture 16"/>
          <p:cNvPicPr/>
          <p:nvPr/>
        </p:nvPicPr>
        <p:blipFill>
          <a:blip r:embed="rId3"/>
          <a:stretch/>
        </p:blipFill>
        <p:spPr>
          <a:xfrm>
            <a:off x="0" y="0"/>
            <a:ext cx="9143640" cy="55620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3"/>
          <p:cNvSpPr>
            <a:spLocks noGrp="1"/>
          </p:cNvSpPr>
          <p:nvPr>
            <p:ph type="sldNum" idx="22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BE156B5C-888C-4E3A-8986-6C09D04A55F0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‹#›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Click to edit the title text format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chemeClr val="dk1"/>
                </a:solidFill>
                <a:latin typeface="Montserrat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chemeClr val="dk1"/>
                </a:solidFill>
                <a:latin typeface="Montserrat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chemeClr val="dk1"/>
                </a:solidFill>
                <a:latin typeface="Montserrat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chemeClr val="dk1"/>
                </a:solidFill>
                <a:latin typeface="Montserrat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dt" idx="38"/>
          </p:nvPr>
        </p:nvSpPr>
        <p:spPr>
          <a:xfrm>
            <a:off x="0" y="526968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6858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defTabSz="6858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Montserrat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ftr" idx="39"/>
          </p:nvPr>
        </p:nvSpPr>
        <p:spPr>
          <a:xfrm>
            <a:off x="2057400" y="5272200"/>
            <a:ext cx="1301400" cy="27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9" name="Rectangle 6"/>
          <p:cNvSpPr/>
          <p:nvPr/>
        </p:nvSpPr>
        <p:spPr>
          <a:xfrm>
            <a:off x="0" y="-2520"/>
            <a:ext cx="9143640" cy="549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20" dist="38160" dir="5400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010" b="0" strike="noStrike" spc="-1">
                <a:solidFill>
                  <a:schemeClr val="lt1"/>
                </a:solidFill>
                <a:latin typeface="Montserrat"/>
              </a:rPr>
              <a:t>i</a:t>
            </a:r>
            <a:endParaRPr lang="en-US" sz="101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Picture 16"/>
          <p:cNvPicPr/>
          <p:nvPr/>
        </p:nvPicPr>
        <p:blipFill>
          <a:blip r:embed="rId4"/>
          <a:stretch/>
        </p:blipFill>
        <p:spPr>
          <a:xfrm>
            <a:off x="0" y="0"/>
            <a:ext cx="9143640" cy="556200"/>
          </a:xfrm>
          <a:prstGeom prst="rect">
            <a:avLst/>
          </a:prstGeom>
          <a:ln w="0">
            <a:noFill/>
          </a:ln>
        </p:spPr>
      </p:pic>
      <p:sp>
        <p:nvSpPr>
          <p:cNvPr id="81" name="PlaceHolder 3"/>
          <p:cNvSpPr>
            <a:spLocks noGrp="1"/>
          </p:cNvSpPr>
          <p:nvPr>
            <p:ph type="sldNum" idx="40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669EBEE3-2E48-4F86-BE8B-5204A9A762FE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‹#›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Click to edit the title text format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chemeClr val="dk1"/>
                </a:solidFill>
                <a:latin typeface="Montserrat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chemeClr val="dk1"/>
                </a:solidFill>
                <a:latin typeface="Montserrat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chemeClr val="dk1"/>
                </a:solidFill>
                <a:latin typeface="Montserrat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Montserra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27;p1"/>
          <p:cNvSpPr/>
          <p:nvPr/>
        </p:nvSpPr>
        <p:spPr>
          <a:xfrm>
            <a:off x="2402762" y="1965667"/>
            <a:ext cx="5521680" cy="6038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14000"/>
              </a:lnSpc>
            </a:pPr>
            <a:r>
              <a:rPr lang="en-US" sz="1600" b="1" strike="noStrike" spc="-1" dirty="0">
                <a:solidFill>
                  <a:schemeClr val="dk1"/>
                </a:solidFill>
                <a:latin typeface="Montserrat"/>
              </a:rPr>
              <a:t>Technical Proposal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685800">
              <a:lnSpc>
                <a:spcPct val="113000"/>
              </a:lnSpc>
            </a:pPr>
            <a:r>
              <a:rPr lang="nn-NO" sz="2000" b="1" strike="noStrike" spc="-1" dirty="0">
                <a:solidFill>
                  <a:srgbClr val="171717"/>
                </a:solidFill>
                <a:latin typeface="Montserrat"/>
                <a:ea typeface="Montserrat"/>
              </a:rPr>
              <a:t>eShop AI Chatbot Shopping Assistant Integration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2" descr="A black and grey logo&#10;&#10;Description automatically generated"/>
          <p:cNvPicPr/>
          <p:nvPr/>
        </p:nvPicPr>
        <p:blipFill>
          <a:blip r:embed="rId2"/>
          <a:stretch/>
        </p:blipFill>
        <p:spPr>
          <a:xfrm>
            <a:off x="484200" y="393120"/>
            <a:ext cx="1037880" cy="514080"/>
          </a:xfrm>
          <a:prstGeom prst="rect">
            <a:avLst/>
          </a:prstGeom>
          <a:ln w="0">
            <a:noFill/>
          </a:ln>
        </p:spPr>
      </p:pic>
      <p:sp>
        <p:nvSpPr>
          <p:cNvPr id="122" name="Google Shape;264;p1"/>
          <p:cNvSpPr/>
          <p:nvPr/>
        </p:nvSpPr>
        <p:spPr>
          <a:xfrm>
            <a:off x="2400840" y="4040280"/>
            <a:ext cx="112860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900" b="1" strike="noStrike" spc="-1">
                <a:solidFill>
                  <a:srgbClr val="171717"/>
                </a:solidFill>
                <a:latin typeface="Montserrat"/>
                <a:ea typeface="Montserrat"/>
              </a:rPr>
              <a:t>June 16, 2026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265;p1"/>
          <p:cNvSpPr/>
          <p:nvPr/>
        </p:nvSpPr>
        <p:spPr>
          <a:xfrm>
            <a:off x="2400840" y="3899160"/>
            <a:ext cx="1128600" cy="12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BC2228"/>
                </a:solidFill>
                <a:latin typeface="Montserrat SemiBold"/>
              </a:rPr>
              <a:t>Date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Num" idx="59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0609824F-360C-4DF6-9CFC-114AFABD1352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2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Group 23"/>
          <p:cNvGrpSpPr/>
          <p:nvPr/>
        </p:nvGrpSpPr>
        <p:grpSpPr>
          <a:xfrm>
            <a:off x="625680" y="1289520"/>
            <a:ext cx="2514240" cy="560520"/>
            <a:chOff x="625680" y="1289520"/>
            <a:chExt cx="2514240" cy="560520"/>
          </a:xfrm>
        </p:grpSpPr>
        <p:sp>
          <p:nvSpPr>
            <p:cNvPr id="126" name="Google Shape;293;g293862cd3de_7_0"/>
            <p:cNvSpPr/>
            <p:nvPr/>
          </p:nvSpPr>
          <p:spPr>
            <a:xfrm>
              <a:off x="625680" y="1636200"/>
              <a:ext cx="25142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00000"/>
                </a:lnSpc>
              </a:pPr>
              <a:r>
                <a:rPr lang="en" sz="1400" b="1" strike="noStrike" spc="-1">
                  <a:solidFill>
                    <a:srgbClr val="000000"/>
                  </a:solidFill>
                  <a:latin typeface="Montserrat"/>
                  <a:ea typeface="Arial"/>
                </a:rPr>
                <a:t>Section 1: Strategic Alignment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" name="Google Shape;294;g293862cd3de_7_0"/>
            <p:cNvSpPr/>
            <p:nvPr/>
          </p:nvSpPr>
          <p:spPr>
            <a:xfrm>
              <a:off x="625680" y="1518840"/>
              <a:ext cx="739800" cy="4068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8" name="Google Shape;295;g293862cd3de_7_0"/>
            <p:cNvSpPr/>
            <p:nvPr/>
          </p:nvSpPr>
          <p:spPr>
            <a:xfrm>
              <a:off x="625680" y="1289520"/>
              <a:ext cx="1828440" cy="26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75000"/>
                </a:lnSpc>
                <a:tabLst>
                  <a:tab pos="0" algn="l"/>
                </a:tabLst>
              </a:pPr>
              <a:endParaRPr lang="en" sz="1000" b="1" strike="noStrike" spc="-1">
                <a:solidFill>
                  <a:srgbClr val="BC2228"/>
                </a:solidFill>
                <a:latin typeface="Montserrat"/>
                <a:ea typeface="Montserrat"/>
              </a:endParaRPr>
            </a:p>
          </p:txBody>
        </p:sp>
      </p:grpSp>
      <p:grpSp>
        <p:nvGrpSpPr>
          <p:cNvPr id="129" name="Group 28"/>
          <p:cNvGrpSpPr/>
          <p:nvPr/>
        </p:nvGrpSpPr>
        <p:grpSpPr>
          <a:xfrm>
            <a:off x="3140280" y="1289520"/>
            <a:ext cx="2514240" cy="562124"/>
            <a:chOff x="3140280" y="1289520"/>
            <a:chExt cx="2514240" cy="562124"/>
          </a:xfrm>
        </p:grpSpPr>
        <p:sp>
          <p:nvSpPr>
            <p:cNvPr id="130" name="Google Shape;293;g293862cd3de_7_0"/>
            <p:cNvSpPr/>
            <p:nvPr/>
          </p:nvSpPr>
          <p:spPr>
            <a:xfrm>
              <a:off x="3140280" y="1636200"/>
              <a:ext cx="2514240" cy="21544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00000"/>
                </a:lnSpc>
              </a:pPr>
              <a:r>
                <a:rPr lang="en" sz="1400" b="1" strike="noStrike" spc="-1" dirty="0">
                  <a:solidFill>
                    <a:srgbClr val="000000"/>
                  </a:solidFill>
                  <a:latin typeface="Montserrat"/>
                  <a:ea typeface="Arial"/>
                </a:rPr>
                <a:t>Section 2: Architecture &amp; Integration</a:t>
              </a:r>
              <a:endParaRPr lang="en-US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Google Shape;294;g293862cd3de_7_0"/>
            <p:cNvSpPr/>
            <p:nvPr/>
          </p:nvSpPr>
          <p:spPr>
            <a:xfrm>
              <a:off x="3140280" y="1518840"/>
              <a:ext cx="739800" cy="4068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2" name="Google Shape;295;g293862cd3de_7_0"/>
            <p:cNvSpPr/>
            <p:nvPr/>
          </p:nvSpPr>
          <p:spPr>
            <a:xfrm>
              <a:off x="3140280" y="1289520"/>
              <a:ext cx="1828440" cy="26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75000"/>
                </a:lnSpc>
                <a:tabLst>
                  <a:tab pos="0" algn="l"/>
                </a:tabLst>
              </a:pPr>
              <a:endParaRPr lang="en" sz="1000" b="1" strike="noStrike" spc="-1">
                <a:solidFill>
                  <a:srgbClr val="BC2228"/>
                </a:solidFill>
                <a:latin typeface="Montserrat"/>
                <a:ea typeface="Montserrat"/>
              </a:endParaRPr>
            </a:p>
          </p:txBody>
        </p:sp>
      </p:grpSp>
      <p:grpSp>
        <p:nvGrpSpPr>
          <p:cNvPr id="133" name="Group 33"/>
          <p:cNvGrpSpPr/>
          <p:nvPr/>
        </p:nvGrpSpPr>
        <p:grpSpPr>
          <a:xfrm>
            <a:off x="5864400" y="1289520"/>
            <a:ext cx="2514240" cy="560520"/>
            <a:chOff x="5864400" y="1289520"/>
            <a:chExt cx="2514240" cy="560520"/>
          </a:xfrm>
        </p:grpSpPr>
        <p:sp>
          <p:nvSpPr>
            <p:cNvPr id="134" name="Google Shape;293;g293862cd3de_7_0"/>
            <p:cNvSpPr/>
            <p:nvPr/>
          </p:nvSpPr>
          <p:spPr>
            <a:xfrm>
              <a:off x="5864400" y="1636200"/>
              <a:ext cx="25142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00000"/>
                </a:lnSpc>
              </a:pPr>
              <a:r>
                <a:rPr lang="en" sz="1400" b="1" strike="noStrike" spc="-1" dirty="0">
                  <a:solidFill>
                    <a:srgbClr val="000000"/>
                  </a:solidFill>
                  <a:latin typeface="Montserrat"/>
                  <a:ea typeface="Arial"/>
                </a:rPr>
                <a:t>Section 3: MVP Delivery &amp; Quality Assurance</a:t>
              </a:r>
              <a:endParaRPr lang="en-US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Google Shape;294;g293862cd3de_7_0"/>
            <p:cNvSpPr/>
            <p:nvPr/>
          </p:nvSpPr>
          <p:spPr>
            <a:xfrm>
              <a:off x="5864400" y="1518840"/>
              <a:ext cx="739800" cy="4068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6" name="Google Shape;295;g293862cd3de_7_0"/>
            <p:cNvSpPr/>
            <p:nvPr/>
          </p:nvSpPr>
          <p:spPr>
            <a:xfrm>
              <a:off x="5864400" y="1289520"/>
              <a:ext cx="1828440" cy="26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75000"/>
                </a:lnSpc>
                <a:tabLst>
                  <a:tab pos="0" algn="l"/>
                </a:tabLst>
              </a:pPr>
              <a:endParaRPr lang="en" sz="1000" b="1" strike="noStrike" spc="-1">
                <a:solidFill>
                  <a:srgbClr val="BC2228"/>
                </a:solidFill>
                <a:latin typeface="Montserrat"/>
                <a:ea typeface="Montserrat"/>
              </a:endParaRPr>
            </a:p>
          </p:txBody>
        </p:sp>
      </p:grpSp>
      <p:grpSp>
        <p:nvGrpSpPr>
          <p:cNvPr id="137" name="Group 38"/>
          <p:cNvGrpSpPr/>
          <p:nvPr/>
        </p:nvGrpSpPr>
        <p:grpSpPr>
          <a:xfrm>
            <a:off x="625680" y="2421720"/>
            <a:ext cx="2514240" cy="560520"/>
            <a:chOff x="625680" y="2421720"/>
            <a:chExt cx="2514240" cy="560520"/>
          </a:xfrm>
        </p:grpSpPr>
        <p:sp>
          <p:nvSpPr>
            <p:cNvPr id="138" name="Google Shape;293;g293862cd3de_7_0"/>
            <p:cNvSpPr/>
            <p:nvPr/>
          </p:nvSpPr>
          <p:spPr>
            <a:xfrm>
              <a:off x="625680" y="2768400"/>
              <a:ext cx="25142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00000"/>
                </a:lnSpc>
              </a:pPr>
              <a:r>
                <a:rPr lang="en" sz="1400" b="1" strike="noStrike" spc="-1" dirty="0">
                  <a:solidFill>
                    <a:srgbClr val="000000"/>
                  </a:solidFill>
                  <a:latin typeface="Montserrat"/>
                  <a:ea typeface="Arial"/>
                </a:rPr>
                <a:t>Section 4: Advanced AI Roadmap</a:t>
              </a:r>
              <a:endParaRPr lang="en-US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Google Shape;294;g293862cd3de_7_0"/>
            <p:cNvSpPr/>
            <p:nvPr/>
          </p:nvSpPr>
          <p:spPr>
            <a:xfrm>
              <a:off x="625680" y="2651040"/>
              <a:ext cx="739800" cy="4068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0" name="Google Shape;295;g293862cd3de_7_0"/>
            <p:cNvSpPr/>
            <p:nvPr/>
          </p:nvSpPr>
          <p:spPr>
            <a:xfrm>
              <a:off x="625680" y="2421720"/>
              <a:ext cx="1828440" cy="26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75000"/>
                </a:lnSpc>
                <a:tabLst>
                  <a:tab pos="0" algn="l"/>
                </a:tabLst>
              </a:pPr>
              <a:endParaRPr lang="en" sz="1000" b="1" strike="noStrike" spc="-1">
                <a:solidFill>
                  <a:srgbClr val="BC2228"/>
                </a:solidFill>
                <a:latin typeface="Montserrat"/>
                <a:ea typeface="Montserrat"/>
              </a:endParaRPr>
            </a:p>
          </p:txBody>
        </p:sp>
      </p:grpSp>
      <p:grpSp>
        <p:nvGrpSpPr>
          <p:cNvPr id="141" name="Group 43"/>
          <p:cNvGrpSpPr/>
          <p:nvPr/>
        </p:nvGrpSpPr>
        <p:grpSpPr>
          <a:xfrm>
            <a:off x="3140280" y="2421720"/>
            <a:ext cx="2514240" cy="560520"/>
            <a:chOff x="3140280" y="2421720"/>
            <a:chExt cx="2514240" cy="560520"/>
          </a:xfrm>
        </p:grpSpPr>
        <p:sp>
          <p:nvSpPr>
            <p:cNvPr id="142" name="Google Shape;293;g293862cd3de_7_0"/>
            <p:cNvSpPr/>
            <p:nvPr/>
          </p:nvSpPr>
          <p:spPr>
            <a:xfrm>
              <a:off x="3140280" y="2768400"/>
              <a:ext cx="25142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00000"/>
                </a:lnSpc>
              </a:pPr>
              <a:r>
                <a:rPr lang="en" sz="1400" b="1" strike="noStrike" spc="-1" dirty="0">
                  <a:solidFill>
                    <a:srgbClr val="000000"/>
                  </a:solidFill>
                  <a:latin typeface="Montserrat"/>
                  <a:ea typeface="Arial"/>
                </a:rPr>
                <a:t>Section 5: Project Governance &amp; Appendix</a:t>
              </a:r>
              <a:endParaRPr lang="en-US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Google Shape;294;g293862cd3de_7_0"/>
            <p:cNvSpPr/>
            <p:nvPr/>
          </p:nvSpPr>
          <p:spPr>
            <a:xfrm>
              <a:off x="3140280" y="2651040"/>
              <a:ext cx="739800" cy="4068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4" name="Google Shape;295;g293862cd3de_7_0"/>
            <p:cNvSpPr/>
            <p:nvPr/>
          </p:nvSpPr>
          <p:spPr>
            <a:xfrm>
              <a:off x="3140280" y="2421720"/>
              <a:ext cx="1828440" cy="26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685800">
                <a:lnSpc>
                  <a:spcPct val="175000"/>
                </a:lnSpc>
                <a:tabLst>
                  <a:tab pos="0" algn="l"/>
                </a:tabLst>
              </a:pPr>
              <a:endParaRPr lang="en" sz="1000" b="1" strike="noStrike" spc="-1">
                <a:solidFill>
                  <a:srgbClr val="BC2228"/>
                </a:solidFill>
                <a:latin typeface="Montserrat"/>
                <a:ea typeface="Montserrat"/>
              </a:endParaRPr>
            </a:p>
          </p:txBody>
        </p:sp>
      </p:grpSp>
      <p:sp>
        <p:nvSpPr>
          <p:cNvPr id="149" name="TextBox 55"/>
          <p:cNvSpPr/>
          <p:nvPr/>
        </p:nvSpPr>
        <p:spPr>
          <a:xfrm>
            <a:off x="479880" y="7506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numCol="1" spcCol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Montserrat"/>
              </a:rPr>
              <a:t>Table</a:t>
            </a:r>
            <a:r>
              <a:rPr lang="en-US" sz="1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 of Contents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3"/>
          <p:cNvSpPr/>
          <p:nvPr/>
        </p:nvSpPr>
        <p:spPr>
          <a:xfrm>
            <a:off x="479880" y="611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numCol="1" spcCol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Montserrat"/>
              </a:rPr>
              <a:t>Executive Summary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Google Shape;331;g20a8ad1af73_0_0"/>
          <p:cNvSpPr/>
          <p:nvPr/>
        </p:nvSpPr>
        <p:spPr>
          <a:xfrm>
            <a:off x="1970280" y="1099440"/>
            <a:ext cx="6566040" cy="1054080"/>
          </a:xfrm>
          <a:prstGeom prst="roundRect">
            <a:avLst>
              <a:gd name="adj" fmla="val 2276"/>
            </a:avLst>
          </a:prstGeom>
          <a:solidFill>
            <a:srgbClr val="FFFFFF"/>
          </a:solidFill>
          <a:ln w="6350">
            <a:solidFill>
              <a:srgbClr val="BC22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109800" rIns="109800" bIns="109800" anchor="ctr">
            <a:noAutofit/>
          </a:bodyPr>
          <a:lstStyle/>
          <a:p>
            <a:endParaRPr lang="en-US" sz="8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52" name="Google Shape;331;g20a8ad1af73_0_0"/>
          <p:cNvSpPr/>
          <p:nvPr/>
        </p:nvSpPr>
        <p:spPr>
          <a:xfrm>
            <a:off x="479880" y="1099440"/>
            <a:ext cx="1366200" cy="1054080"/>
          </a:xfrm>
          <a:prstGeom prst="roundRect">
            <a:avLst>
              <a:gd name="adj" fmla="val 4117"/>
            </a:avLst>
          </a:prstGeom>
          <a:solidFill>
            <a:srgbClr val="F3DEDA"/>
          </a:solidFill>
          <a:ln w="9525">
            <a:solidFill>
              <a:srgbClr val="F3DEDA">
                <a:lumMod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" sz="1100" b="1" strike="noStrike" spc="-1" dirty="0">
                <a:solidFill>
                  <a:schemeClr val="accent1"/>
                </a:solidFill>
                <a:latin typeface="Montserrat"/>
              </a:rPr>
              <a:t>The Challenge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331;g20a8ad1af73_0_0"/>
          <p:cNvSpPr/>
          <p:nvPr/>
        </p:nvSpPr>
        <p:spPr>
          <a:xfrm>
            <a:off x="1970280" y="2259360"/>
            <a:ext cx="6566040" cy="17136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6350">
            <a:solidFill>
              <a:srgbClr val="BC22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109800" rIns="109800" bIns="109800" anchor="ctr">
            <a:noAutofit/>
          </a:bodyPr>
          <a:lstStyle/>
          <a:p>
            <a:r>
              <a:rPr lang="en-US" sz="800" b="0" strike="noStrike" spc="-1" dirty="0" err="1">
                <a:solidFill>
                  <a:schemeClr val="dk1"/>
                </a:solidFill>
                <a:latin typeface="Montserrat"/>
                <a:ea typeface="Montserrat"/>
              </a:rPr>
              <a:t>Rikkeisoft</a:t>
            </a:r>
            <a:r>
              <a:rPr lang="en-US" sz="8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 proposes a </a:t>
            </a:r>
            <a:r>
              <a:rPr lang="en-US" sz="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focused Phase 1 engagement</a:t>
            </a:r>
            <a:r>
              <a:rPr lang="en-US" sz="8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 delivering Analytics Foundation MVP — leveraging ABC's existing data infrastructure (API + frontend only, no infrastructure rebuild):</a:t>
            </a:r>
            <a:endParaRPr lang="en-US" sz="800" b="0" strike="noStrike" spc="-1" dirty="0">
              <a:solidFill>
                <a:schemeClr val="dk1"/>
              </a:solidFill>
              <a:latin typeface="Arial"/>
            </a:endParaRPr>
          </a:p>
          <a:p>
            <a:pPr marL="215900" indent="-215900">
              <a:buClr>
                <a:srgbClr val="000000"/>
              </a:buClr>
              <a:buSzPct val="45000"/>
              <a:buFont typeface="Wingdings" charset="2"/>
              <a:buChar char="v"/>
            </a:pPr>
            <a:r>
              <a:rPr lang="en-US" sz="800" b="1" strike="noStrike" spc="-1" dirty="0">
                <a:solidFill>
                  <a:schemeClr val="accent1"/>
                </a:solidFill>
                <a:latin typeface="Montserrat"/>
                <a:ea typeface="Montserrat"/>
              </a:rPr>
              <a:t>Phase 1 : Chatbot MVP. Includes a Blazor-based UI, semantic product search via Catalog.API, an inline Add-to-Cart button, and local memory fallback for sessions.</a:t>
            </a:r>
            <a:endParaRPr lang="en-US" sz="8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v"/>
            </a:pPr>
            <a:r>
              <a:rPr lang="en-US" sz="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Phase 2 : Smart Cards (Identity + Mobile integration), Newsfeed Polls Widget, and Portfolio-level chatbot analytics.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v"/>
            </a:pPr>
            <a:r>
              <a:rPr lang="en-US" sz="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Phase 3 : Advanced AI Insights, Advanced Payment/Rewards Cards, LLM-powered data summarizers.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8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Each phase delivers independently usable value with modular design — no existing features affected.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331;g20a8ad1af73_0_0"/>
          <p:cNvSpPr/>
          <p:nvPr/>
        </p:nvSpPr>
        <p:spPr>
          <a:xfrm>
            <a:off x="473400" y="2259360"/>
            <a:ext cx="1372680" cy="1713600"/>
          </a:xfrm>
          <a:prstGeom prst="roundRect">
            <a:avLst>
              <a:gd name="adj" fmla="val 3488"/>
            </a:avLst>
          </a:prstGeom>
          <a:solidFill>
            <a:srgbClr val="F3DEDA"/>
          </a:solidFill>
          <a:ln w="9525">
            <a:solidFill>
              <a:srgbClr val="BC22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" sz="1100" b="1" strike="noStrike" spc="-1">
                <a:solidFill>
                  <a:schemeClr val="accent1"/>
                </a:solidFill>
                <a:latin typeface="Montserrat"/>
              </a:rPr>
              <a:t>Our Approach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sldNum" idx="60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7F2C9CD7-BC2A-41D2-A96A-2D1596E79DD3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3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Google Shape;331;g20a8ad1af73_0_0"/>
          <p:cNvSpPr/>
          <p:nvPr/>
        </p:nvSpPr>
        <p:spPr>
          <a:xfrm>
            <a:off x="476640" y="4078800"/>
            <a:ext cx="1372680" cy="851400"/>
          </a:xfrm>
          <a:prstGeom prst="roundRect">
            <a:avLst>
              <a:gd name="adj" fmla="val 3488"/>
            </a:avLst>
          </a:prstGeom>
          <a:solidFill>
            <a:srgbClr val="F3DEDA"/>
          </a:solidFill>
          <a:ln w="9525">
            <a:solidFill>
              <a:srgbClr val="BC22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" sz="1100" b="1" strike="noStrike" spc="-1">
                <a:solidFill>
                  <a:schemeClr val="accent1"/>
                </a:solidFill>
                <a:latin typeface="Montserrat"/>
              </a:rPr>
              <a:t>Key Outcomes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331;g20a8ad1af73_0_0"/>
          <p:cNvSpPr/>
          <p:nvPr/>
        </p:nvSpPr>
        <p:spPr>
          <a:xfrm>
            <a:off x="1970280" y="4078800"/>
            <a:ext cx="6566040" cy="847080"/>
          </a:xfrm>
          <a:prstGeom prst="roundRect">
            <a:avLst>
              <a:gd name="adj" fmla="val 2276"/>
            </a:avLst>
          </a:prstGeom>
          <a:solidFill>
            <a:srgbClr val="FFFFFF"/>
          </a:solidFill>
          <a:ln w="6350">
            <a:solidFill>
              <a:srgbClr val="BC22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109800" rIns="109800" bIns="109800" anchor="ctr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v"/>
            </a:pPr>
            <a:r>
              <a:rPr lang="en-US" sz="8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Phase 1 chatbot live in ~</a:t>
            </a:r>
            <a:r>
              <a:rPr lang="en-US" sz="800" spc="-1" dirty="0">
                <a:solidFill>
                  <a:schemeClr val="dk1"/>
                </a:solidFill>
                <a:latin typeface="Montserrat"/>
                <a:ea typeface="Montserrat"/>
              </a:rPr>
              <a:t>1</a:t>
            </a:r>
            <a:r>
              <a:rPr lang="en-US" sz="8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 weeks — real-time cart addition and semantic search without database rewrite.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v"/>
            </a:pPr>
            <a:r>
              <a:rPr lang="en-US" sz="8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Smart Cards, Polls widget, and advanced AI analytics unlocked in Phases 2 &amp; 3.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247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331;g20a8ad1af73_0_0"/>
          <p:cNvSpPr/>
          <p:nvPr/>
        </p:nvSpPr>
        <p:spPr>
          <a:xfrm>
            <a:off x="471600" y="723959"/>
            <a:ext cx="8285040" cy="4117547"/>
          </a:xfrm>
          <a:prstGeom prst="roundRect">
            <a:avLst>
              <a:gd name="adj" fmla="val 4117"/>
            </a:avLst>
          </a:prstGeom>
          <a:solidFill>
            <a:schemeClr val="bg2"/>
          </a:solidFill>
          <a:ln w="9525">
            <a:solidFill>
              <a:srgbClr val="F3DEDA">
                <a:lumMod val="50000"/>
              </a:srgbClr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en" sz="1100" b="1" strike="noStrike" spc="-1">
              <a:solidFill>
                <a:schemeClr val="accent1"/>
              </a:solidFill>
              <a:latin typeface="Montserrat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61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r>
              <a:rPr lang="en-US" sz="700" b="0" strike="noStrike" spc="-1">
                <a:solidFill>
                  <a:schemeClr val="lt1"/>
                </a:solidFill>
                <a:latin typeface="Montserrat"/>
              </a:rPr>
              <a:t>4</a:t>
            </a:r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1274040" y="92880"/>
            <a:ext cx="600912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numCol="1" spcCol="0" anchor="t">
            <a:sp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800" b="1" strike="noStrike" spc="-1" dirty="0">
                <a:solidFill>
                  <a:schemeClr val="dk1"/>
                </a:solidFill>
                <a:latin typeface="Montserrat"/>
              </a:rPr>
              <a:t>Understanding ABC’s Current Position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Picture 160" descr="low_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6" y="847023"/>
            <a:ext cx="8081068" cy="38019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395;p31"/>
          <p:cNvGrpSpPr/>
          <p:nvPr/>
        </p:nvGrpSpPr>
        <p:grpSpPr>
          <a:xfrm>
            <a:off x="1257480" y="4905720"/>
            <a:ext cx="237240" cy="237240"/>
            <a:chOff x="1257480" y="4905720"/>
            <a:chExt cx="237240" cy="237240"/>
          </a:xfrm>
        </p:grpSpPr>
        <p:sp>
          <p:nvSpPr>
            <p:cNvPr id="229" name="Google Shape;396;p31"/>
            <p:cNvSpPr/>
            <p:nvPr/>
          </p:nvSpPr>
          <p:spPr>
            <a:xfrm>
              <a:off x="1257480" y="4905720"/>
              <a:ext cx="237240" cy="23724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230" name="Google Shape;397;p31"/>
            <p:cNvSpPr/>
            <p:nvPr/>
          </p:nvSpPr>
          <p:spPr>
            <a:xfrm rot="13500000">
              <a:off x="1328400" y="4947840"/>
              <a:ext cx="95400" cy="95400"/>
            </a:xfrm>
            <a:prstGeom prst="halfFrame">
              <a:avLst>
                <a:gd name="adj1" fmla="val 33333"/>
                <a:gd name="adj2" fmla="val 33333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</p:grpSp>
      <p:pic>
        <p:nvPicPr>
          <p:cNvPr id="231" name="Picture 1" descr="A red background with many squares&#10;&#10;Description automatically generated"/>
          <p:cNvPicPr/>
          <p:nvPr/>
        </p:nvPicPr>
        <p:blipFill>
          <a:blip r:embed="rId2"/>
          <a:stretch/>
        </p:blipFill>
        <p:spPr>
          <a:xfrm>
            <a:off x="4667400" y="568440"/>
            <a:ext cx="4505400" cy="4580640"/>
          </a:xfrm>
          <a:prstGeom prst="rect">
            <a:avLst/>
          </a:prstGeom>
          <a:ln w="0">
            <a:noFill/>
          </a:ln>
        </p:spPr>
      </p:pic>
      <p:sp>
        <p:nvSpPr>
          <p:cNvPr id="232" name="Google Shape;227;p1"/>
          <p:cNvSpPr/>
          <p:nvPr/>
        </p:nvSpPr>
        <p:spPr>
          <a:xfrm>
            <a:off x="366480" y="2115360"/>
            <a:ext cx="4203720" cy="73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90000"/>
              </a:lnSpc>
              <a:spcAft>
                <a:spcPts val="601"/>
              </a:spcAft>
            </a:pPr>
            <a:r>
              <a:rPr lang="en-US" sz="2400" b="1" strike="noStrike" spc="-1">
                <a:solidFill>
                  <a:srgbClr val="171717"/>
                </a:solidFill>
                <a:latin typeface="Montserrat ExtraBold"/>
              </a:rPr>
              <a:t>Proposed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685800">
              <a:lnSpc>
                <a:spcPct val="90000"/>
              </a:lnSpc>
              <a:spcAft>
                <a:spcPts val="601"/>
              </a:spcAft>
            </a:pPr>
            <a:r>
              <a:rPr lang="en-US" sz="2400" b="1" strike="noStrike" spc="-1">
                <a:solidFill>
                  <a:srgbClr val="171717"/>
                </a:solidFill>
                <a:latin typeface="Montserrat ExtraBold"/>
                <a:ea typeface="Montserrat"/>
              </a:rPr>
              <a:t>Solution Approach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sldNum" idx="64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8496537C-E79A-4835-8EA8-07DE2ACD8429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5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75"/>
          <p:cNvSpPr/>
          <p:nvPr/>
        </p:nvSpPr>
        <p:spPr>
          <a:xfrm>
            <a:off x="1296360" y="88920"/>
            <a:ext cx="6554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numCol="1" spcCol="0" anchor="t">
            <a:sp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Proposed High-Level Solution Architecture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Flowchart: Connector 39"/>
          <p:cNvSpPr/>
          <p:nvPr/>
        </p:nvSpPr>
        <p:spPr>
          <a:xfrm>
            <a:off x="1444320" y="4728600"/>
            <a:ext cx="134280" cy="119520"/>
          </a:xfrm>
          <a:prstGeom prst="flowChartConnector">
            <a:avLst/>
          </a:prstGeom>
          <a:solidFill>
            <a:schemeClr val="tx2"/>
          </a:solidFill>
          <a:ln w="6350">
            <a:solidFill>
              <a:srgbClr val="FAFAFA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9960" rIns="90000" bIns="3996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en-US" sz="1000" b="0" strike="noStrike" spc="-1">
              <a:solidFill>
                <a:schemeClr val="lt1"/>
              </a:solidFill>
              <a:latin typeface="Montserrat"/>
            </a:endParaRPr>
          </a:p>
        </p:txBody>
      </p:sp>
      <p:sp>
        <p:nvSpPr>
          <p:cNvPr id="236" name="TextBox 41"/>
          <p:cNvSpPr/>
          <p:nvPr/>
        </p:nvSpPr>
        <p:spPr>
          <a:xfrm>
            <a:off x="1572120" y="4664880"/>
            <a:ext cx="167688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Montserrat"/>
              </a:rPr>
              <a:t>Existing System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Flowchart: Connector 42"/>
          <p:cNvSpPr/>
          <p:nvPr/>
        </p:nvSpPr>
        <p:spPr>
          <a:xfrm>
            <a:off x="5876755" y="4744181"/>
            <a:ext cx="134280" cy="119520"/>
          </a:xfrm>
          <a:prstGeom prst="flowChartConnector">
            <a:avLst/>
          </a:prstGeom>
          <a:solidFill>
            <a:srgbClr val="FFD966"/>
          </a:solidFill>
          <a:ln w="6350">
            <a:solidFill>
              <a:srgbClr val="FAFAFA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9960" rIns="90000" bIns="3996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en-US" sz="1000" b="0" strike="noStrike" spc="-1">
              <a:solidFill>
                <a:schemeClr val="lt1"/>
              </a:solidFill>
              <a:latin typeface="Montserrat"/>
            </a:endParaRPr>
          </a:p>
        </p:txBody>
      </p:sp>
      <p:sp>
        <p:nvSpPr>
          <p:cNvPr id="240" name="TextBox 45"/>
          <p:cNvSpPr/>
          <p:nvPr/>
        </p:nvSpPr>
        <p:spPr>
          <a:xfrm>
            <a:off x="6018480" y="4666320"/>
            <a:ext cx="2750040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dk1"/>
                </a:solidFill>
                <a:latin typeface="Montserrat"/>
              </a:rPr>
              <a:t>Developed by </a:t>
            </a:r>
            <a:r>
              <a:rPr lang="en-US" sz="1000" b="0" strike="noStrike" spc="-1" dirty="0" err="1">
                <a:solidFill>
                  <a:schemeClr val="dk1"/>
                </a:solidFill>
                <a:latin typeface="Montserrat"/>
              </a:rPr>
              <a:t>Boiz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sldNum" idx="65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F42706DF-C049-495D-8D35-D98C28F17494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6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6" y="697832"/>
            <a:ext cx="8751884" cy="3850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767;p133"/>
          <p:cNvSpPr/>
          <p:nvPr/>
        </p:nvSpPr>
        <p:spPr>
          <a:xfrm>
            <a:off x="673920" y="1493640"/>
            <a:ext cx="1789200" cy="670728"/>
          </a:xfrm>
          <a:prstGeom prst="rect">
            <a:avLst/>
          </a:prstGeom>
          <a:solidFill>
            <a:srgbClr val="D8EAF6"/>
          </a:solidFill>
          <a:ln w="6350">
            <a:solidFill>
              <a:srgbClr val="4472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12000"/>
              </a:lnSpc>
            </a:pPr>
            <a:r>
              <a:rPr lang="en-US" sz="800" b="1" strike="noStrike" spc="-1" dirty="0">
                <a:solidFill>
                  <a:srgbClr val="0070C0"/>
                </a:solidFill>
                <a:latin typeface="Montserrat"/>
              </a:rPr>
              <a:t>Stage 1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0072C0"/>
                </a:solidFill>
                <a:latin typeface="Montserrat"/>
              </a:rPr>
              <a:t>Codebase Discovery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1165680" y="91080"/>
            <a:ext cx="6620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Montserrat"/>
              </a:rPr>
              <a:t>Chatbot Delivery Architecture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767;p133"/>
          <p:cNvSpPr/>
          <p:nvPr/>
        </p:nvSpPr>
        <p:spPr>
          <a:xfrm>
            <a:off x="2687040" y="1493640"/>
            <a:ext cx="1788840" cy="671776"/>
          </a:xfrm>
          <a:prstGeom prst="rect">
            <a:avLst/>
          </a:prstGeom>
          <a:solidFill>
            <a:srgbClr val="D8EAF6"/>
          </a:solidFill>
          <a:ln w="6350">
            <a:solidFill>
              <a:srgbClr val="4472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12000"/>
              </a:lnSpc>
            </a:pPr>
            <a:r>
              <a:rPr lang="en-US" sz="800" b="1" strike="noStrike" spc="-1" dirty="0">
                <a:solidFill>
                  <a:srgbClr val="0070C0"/>
                </a:solidFill>
                <a:latin typeface="Montserrat"/>
              </a:rPr>
              <a:t>Stage 2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0072C0"/>
                </a:solidFill>
                <a:latin typeface="Montserrat"/>
              </a:rPr>
              <a:t>API &amp; UI Integration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767;p133"/>
          <p:cNvSpPr/>
          <p:nvPr/>
        </p:nvSpPr>
        <p:spPr>
          <a:xfrm>
            <a:off x="4686120" y="1493640"/>
            <a:ext cx="1789200" cy="672480"/>
          </a:xfrm>
          <a:prstGeom prst="rect">
            <a:avLst/>
          </a:prstGeom>
          <a:solidFill>
            <a:srgbClr val="D8EAF6"/>
          </a:solidFill>
          <a:ln w="6350">
            <a:solidFill>
              <a:srgbClr val="709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12000"/>
              </a:lnSpc>
            </a:pPr>
            <a:r>
              <a:rPr lang="en-US" sz="800" b="1" strike="noStrike" spc="-1" dirty="0">
                <a:solidFill>
                  <a:srgbClr val="0070C0"/>
                </a:solidFill>
                <a:latin typeface="Montserrat"/>
              </a:rPr>
              <a:t>Local LLM Config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0072C0"/>
                </a:solidFill>
                <a:latin typeface="Montserrat"/>
              </a:rPr>
              <a:t>Setup &amp; Local Costs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r>
              <a:rPr lang="en-US" sz="800" b="0" strike="noStrike" spc="-1" dirty="0">
                <a:solidFill>
                  <a:srgbClr val="0070C0"/>
                </a:solidFill>
                <a:latin typeface="Montserrat"/>
              </a:rPr>
              <a:t>(Developer PCs)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757;p132"/>
          <p:cNvSpPr/>
          <p:nvPr/>
        </p:nvSpPr>
        <p:spPr>
          <a:xfrm>
            <a:off x="2687040" y="2166120"/>
            <a:ext cx="1788840" cy="2230020"/>
          </a:xfrm>
          <a:prstGeom prst="rect">
            <a:avLst/>
          </a:prstGeom>
          <a:noFill/>
          <a:ln w="6350">
            <a:solidFill>
              <a:srgbClr val="437AAC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rIns="45720" anchor="t">
            <a:noAutofit/>
          </a:bodyPr>
          <a:lstStyle/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Build REST &amp; gRPC API endpoints for chat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Develop Blazor chatbot UI &amp; markdown parser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Run integration &amp; Playwright regression tests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757;p132"/>
          <p:cNvSpPr/>
          <p:nvPr/>
        </p:nvSpPr>
        <p:spPr>
          <a:xfrm>
            <a:off x="4685400" y="2179440"/>
            <a:ext cx="1787400" cy="2216340"/>
          </a:xfrm>
          <a:prstGeom prst="rect">
            <a:avLst/>
          </a:prstGeom>
          <a:noFill/>
          <a:ln w="6350">
            <a:solidFill>
              <a:srgbClr val="437AAC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rIns="45720" anchor="t">
            <a:noAutofit/>
          </a:bodyPr>
          <a:lstStyle/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Engine: Ollama (Llama 3.2 3B / Mistral 7B)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Hardware: 8GB-16GB RAM, 4-Core CPU/GPU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Speed: 15-30 t/s | Cost: $0 (run on dev PCs)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570;p31"/>
          <p:cNvSpPr/>
          <p:nvPr/>
        </p:nvSpPr>
        <p:spPr>
          <a:xfrm>
            <a:off x="674640" y="747360"/>
            <a:ext cx="7806960" cy="405000"/>
          </a:xfrm>
          <a:prstGeom prst="roundRect">
            <a:avLst>
              <a:gd name="adj" fmla="val 4979"/>
            </a:avLst>
          </a:prstGeom>
          <a:solidFill>
            <a:schemeClr val="bg2"/>
          </a:solidFill>
          <a:ln w="3175">
            <a:solidFill>
              <a:srgbClr val="BC2127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just" defTabSz="685800">
              <a:lnSpc>
                <a:spcPct val="100000"/>
              </a:lnSpc>
              <a:spcBef>
                <a:spcPts val="300"/>
              </a:spcBef>
            </a:pPr>
            <a:r>
              <a:rPr lang="en-US" sz="900" b="1" strike="noStrike" spc="-1" dirty="0">
                <a:solidFill>
                  <a:schemeClr val="accent1"/>
                </a:solidFill>
                <a:latin typeface="Montserrat"/>
              </a:rPr>
              <a:t>Key Assumption: Catalog data already exists in PostgreSQL database. The chatbot runs as an isolated component inside the WebApp and Catalog.API, communicating via gRPC, ensuring no existing services are disrupted.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757;p132"/>
          <p:cNvSpPr/>
          <p:nvPr/>
        </p:nvSpPr>
        <p:spPr>
          <a:xfrm>
            <a:off x="673920" y="2165448"/>
            <a:ext cx="1784160" cy="2230692"/>
          </a:xfrm>
          <a:prstGeom prst="rect">
            <a:avLst/>
          </a:prstGeom>
          <a:noFill/>
          <a:ln w="6350">
            <a:solidFill>
              <a:srgbClr val="0B5394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5720" rIns="45720" bIns="45720" anchor="t">
            <a:noAutofit/>
          </a:bodyPr>
          <a:lstStyle/>
          <a:p>
            <a:pPr marL="114300" indent="-11430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Review existing data models in Catalog.API microservice</a:t>
            </a:r>
            <a:endParaRPr lang="en-US" sz="8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114300" indent="-11430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Map available database tables and existing API patterns</a:t>
            </a:r>
            <a:endParaRPr lang="en-US" sz="8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marL="114300" indent="-11430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Define API contracts and setup local development Docker containers</a:t>
            </a:r>
            <a:endParaRPr lang="en-US" sz="800" b="0" strike="noStrike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2" name="Google Shape;767;p133"/>
          <p:cNvSpPr/>
          <p:nvPr/>
        </p:nvSpPr>
        <p:spPr>
          <a:xfrm>
            <a:off x="6696360" y="1493640"/>
            <a:ext cx="1789200" cy="670728"/>
          </a:xfrm>
          <a:prstGeom prst="rect">
            <a:avLst/>
          </a:prstGeom>
          <a:solidFill>
            <a:srgbClr val="D9D2E9"/>
          </a:solidFill>
          <a:ln w="6350">
            <a:solidFill>
              <a:srgbClr val="6C69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12000"/>
              </a:lnSpc>
            </a:pPr>
            <a:r>
              <a:rPr lang="en-US" sz="800" b="1" strike="noStrike" spc="-1">
                <a:solidFill>
                  <a:srgbClr val="524F9F"/>
                </a:solidFill>
                <a:latin typeface="Montserrat"/>
              </a:rPr>
              <a:t>Cloud LLM Config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r>
              <a:rPr lang="en-US" sz="900" b="1" strike="noStrike" spc="-1">
                <a:solidFill>
                  <a:srgbClr val="524F9F"/>
                </a:solidFill>
                <a:latin typeface="Montserrat"/>
              </a:rPr>
              <a:t>Setup &amp; Cloud Costs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2000"/>
              </a:lnSpc>
            </a:pPr>
            <a:r>
              <a:rPr lang="en-US" sz="800" b="0" strike="noStrike" spc="-1">
                <a:solidFill>
                  <a:srgbClr val="524F9F"/>
                </a:solidFill>
                <a:latin typeface="Montserrat"/>
              </a:rPr>
              <a:t>(Staging/Prod)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757;p132"/>
          <p:cNvSpPr/>
          <p:nvPr/>
        </p:nvSpPr>
        <p:spPr>
          <a:xfrm>
            <a:off x="6696000" y="2178360"/>
            <a:ext cx="1778400" cy="2216340"/>
          </a:xfrm>
          <a:prstGeom prst="rect">
            <a:avLst/>
          </a:prstGeom>
          <a:noFill/>
          <a:ln w="6350">
            <a:solidFill>
              <a:srgbClr val="6C69AD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rIns="45720" anchor="t">
            <a:noAutofit/>
          </a:bodyPr>
          <a:lstStyle/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Engine: OpenAI GPT-4o-mini / Groq Llama 3.3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Speed: 100-250+ t/s (ultra-low latency)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114480" indent="-114480" defTabSz="685800">
              <a:lnSpc>
                <a:spcPct val="113000"/>
              </a:lnSpc>
              <a:spcAft>
                <a:spcPts val="201"/>
              </a:spcAft>
              <a:buClr>
                <a:srgbClr val="FF5969"/>
              </a:buClr>
              <a:buFont typeface="Arial"/>
              <a:buChar char="•"/>
            </a:pPr>
            <a:r>
              <a:rPr lang="en-US" sz="800" b="0" strike="noStrike" spc="-1">
                <a:solidFill>
                  <a:srgbClr val="3D3D3D"/>
                </a:solidFill>
                <a:latin typeface="Montserrat Medium"/>
                <a:ea typeface="Roboto"/>
              </a:rPr>
              <a:t>Cost: ~$0.15-$0.60/1M t. (~$5-$10/mo for 10K q.)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1" name="Elbow Connector 75"/>
          <p:cNvCxnSpPr/>
          <p:nvPr/>
        </p:nvCxnSpPr>
        <p:spPr>
          <a:xfrm>
            <a:off x="2463480" y="1723680"/>
            <a:ext cx="223560" cy="1080"/>
          </a:xfrm>
          <a:prstGeom prst="bentConnector3">
            <a:avLst>
              <a:gd name="adj1" fmla="val 50000"/>
            </a:avLst>
          </a:prstGeom>
          <a:ln>
            <a:solidFill>
              <a:srgbClr val="171717"/>
            </a:solidFill>
            <a:tailEnd type="triangle" w="med" len="med"/>
          </a:ln>
        </p:spPr>
      </p:cxnSp>
      <p:cxnSp>
        <p:nvCxnSpPr>
          <p:cNvPr id="272" name="Elbow Connector 78"/>
          <p:cNvCxnSpPr/>
          <p:nvPr/>
        </p:nvCxnSpPr>
        <p:spPr>
          <a:xfrm>
            <a:off x="4476240" y="1724400"/>
            <a:ext cx="209880" cy="360"/>
          </a:xfrm>
          <a:prstGeom prst="bentConnector2">
            <a:avLst/>
          </a:prstGeom>
          <a:ln>
            <a:solidFill>
              <a:srgbClr val="171717"/>
            </a:solidFill>
            <a:tailEnd type="triangle" w="med" len="med"/>
          </a:ln>
        </p:spPr>
      </p:cxnSp>
      <p:cxnSp>
        <p:nvCxnSpPr>
          <p:cNvPr id="273" name="Elbow Connector 81"/>
          <p:cNvCxnSpPr/>
          <p:nvPr/>
        </p:nvCxnSpPr>
        <p:spPr>
          <a:xfrm flipV="1">
            <a:off x="6475320" y="1723680"/>
            <a:ext cx="221400" cy="1080"/>
          </a:xfrm>
          <a:prstGeom prst="bentConnector3">
            <a:avLst>
              <a:gd name="adj1" fmla="val 50000"/>
            </a:avLst>
          </a:prstGeom>
          <a:ln>
            <a:solidFill>
              <a:srgbClr val="171717"/>
            </a:solidFill>
            <a:tailEnd type="triangle" w="med" len="med"/>
          </a:ln>
        </p:spPr>
      </p:cxnSp>
      <p:cxnSp>
        <p:nvCxnSpPr>
          <p:cNvPr id="274" name="Elbow Connector 86"/>
          <p:cNvCxnSpPr/>
          <p:nvPr/>
        </p:nvCxnSpPr>
        <p:spPr>
          <a:xfrm flipV="1">
            <a:off x="1575000" y="1486800"/>
            <a:ext cx="4012200" cy="13320"/>
          </a:xfrm>
          <a:prstGeom prst="bentConnector3">
            <a:avLst>
              <a:gd name="adj1" fmla="val 45935"/>
            </a:avLst>
          </a:prstGeom>
          <a:ln w="3175">
            <a:solidFill>
              <a:srgbClr val="0072C0"/>
            </a:solidFill>
            <a:prstDash val="lgDash"/>
          </a:ln>
        </p:spPr>
      </p:cxnSp>
      <p:sp>
        <p:nvSpPr>
          <p:cNvPr id="275" name="Google Shape;767;p133"/>
          <p:cNvSpPr/>
          <p:nvPr/>
        </p:nvSpPr>
        <p:spPr>
          <a:xfrm>
            <a:off x="3013200" y="1250280"/>
            <a:ext cx="1135440" cy="142560"/>
          </a:xfrm>
          <a:prstGeom prst="rect">
            <a:avLst/>
          </a:prstGeom>
          <a:solidFill>
            <a:schemeClr val="bg2"/>
          </a:solidFill>
          <a:ln w="3175">
            <a:solidFill>
              <a:srgbClr val="4472C4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12000"/>
              </a:lnSpc>
            </a:pPr>
            <a:r>
              <a:rPr lang="en-US" sz="600" b="1" strike="noStrike" spc="-1">
                <a:solidFill>
                  <a:srgbClr val="0070C0"/>
                </a:solidFill>
                <a:latin typeface="Montserrat"/>
              </a:rPr>
              <a:t>MVP SCOPE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6" name="Straight Connector 77"/>
          <p:cNvCxnSpPr/>
          <p:nvPr/>
        </p:nvCxnSpPr>
        <p:spPr>
          <a:xfrm flipH="1" flipV="1">
            <a:off x="3580920" y="1392840"/>
            <a:ext cx="720" cy="100800"/>
          </a:xfrm>
          <a:prstGeom prst="straightConnector1">
            <a:avLst/>
          </a:prstGeom>
          <a:ln>
            <a:solidFill>
              <a:srgbClr val="0072C0"/>
            </a:solidFill>
            <a:prstDash val="lgDash"/>
          </a:ln>
        </p:spPr>
      </p:cxnSp>
      <p:sp>
        <p:nvSpPr>
          <p:cNvPr id="277" name="PlaceHolder 1"/>
          <p:cNvSpPr>
            <a:spLocks noGrp="1"/>
          </p:cNvSpPr>
          <p:nvPr>
            <p:ph type="sldNum" idx="66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A5F272A4-855E-4F1A-AFE6-1A5C065F9491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7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807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200;p14"/>
          <p:cNvSpPr/>
          <p:nvPr/>
        </p:nvSpPr>
        <p:spPr>
          <a:xfrm>
            <a:off x="1348200" y="145800"/>
            <a:ext cx="65041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Montserrat"/>
              </a:rPr>
              <a:t>Quality Assurance &amp; Testing Strategy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570;p31"/>
          <p:cNvSpPr/>
          <p:nvPr/>
        </p:nvSpPr>
        <p:spPr>
          <a:xfrm>
            <a:off x="707759" y="714240"/>
            <a:ext cx="8127007" cy="519120"/>
          </a:xfrm>
          <a:prstGeom prst="roundRect">
            <a:avLst>
              <a:gd name="adj" fmla="val 4979"/>
            </a:avLst>
          </a:prstGeom>
          <a:solidFill>
            <a:schemeClr val="bg2"/>
          </a:solidFill>
          <a:ln w="3175">
            <a:solidFill>
              <a:srgbClr val="BC2228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ctr">
            <a:noAutofit/>
          </a:bodyPr>
          <a:lstStyle/>
          <a:p>
            <a:pPr marL="356235" algn="just" defTabSz="685800">
              <a:lnSpc>
                <a:spcPct val="100000"/>
              </a:lnSpc>
              <a:spcBef>
                <a:spcPts val="300"/>
              </a:spcBef>
            </a:pPr>
            <a:r>
              <a:rPr lang="en-US" sz="900" b="1" strike="noStrike" spc="-1">
                <a:solidFill>
                  <a:schemeClr val="accent1"/>
                </a:solidFill>
                <a:latin typeface="Montserrat"/>
              </a:rPr>
              <a:t>Key Objective: Deliver a stable, highly performant chatbot assistant with a solid testing strategy — Unit tests, Integration tests, and automated UI Regression tests run before every release.</a:t>
            </a:r>
            <a:endParaRPr lang="en-US" sz="900" b="0" strike="noStrike" spc="-1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1DD89D72-C982-4FA7-AB94-DDD0AA5CFED4}" type="slidenum">
              <a:rPr/>
              <a:t>8</a:t>
            </a:fld>
            <a:endParaRPr/>
          </a:p>
        </p:txBody>
      </p:sp>
      <p:graphicFrame>
        <p:nvGraphicFramePr>
          <p:cNvPr id="450" name="Testing Pyrami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993561"/>
              </p:ext>
            </p:extLst>
          </p:nvPr>
        </p:nvGraphicFramePr>
        <p:xfrm>
          <a:off x="694403" y="1558724"/>
          <a:ext cx="814036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Montserrat"/>
                        </a:rPr>
                        <a:t>Test Level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Montserrat"/>
                        </a:rPr>
                        <a:t>Coverage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Montserrat"/>
                        </a:rPr>
                        <a:t>Tools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217">
                <a:tc>
                  <a:txBody>
                    <a:bodyPr/>
                    <a:lstStyle/>
                    <a:p>
                      <a:r>
                        <a:t>Unit Tests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Business logic, markdown parsing, and state management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xUnit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614">
                <a:tc>
                  <a:txBody>
                    <a:bodyPr/>
                    <a:lstStyle/>
                    <a:p>
                      <a:r>
                        <a:t>Integration Tests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REST/gRPC API endpoints, pgvector search, and cart actions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xUnit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616">
                <a:tc>
                  <a:txBody>
                    <a:bodyPr/>
                    <a:lstStyle/>
                    <a:p>
                      <a:r>
                        <a:t>UI Regression Tests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Automated checkout flows and UI circuit state verification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Playwright</a:t>
                      </a:r>
                    </a:p>
                  </a:txBody>
                  <a:tcPr>
                    <a:lnL w="9525" cap="flat" cmpd="sng">
                      <a:solidFill>
                        <a:srgbClr val="D0D0D0"/>
                      </a:solidFill>
                    </a:lnL>
                    <a:lnR w="9525" cap="flat" cmpd="sng">
                      <a:solidFill>
                        <a:srgbClr val="D0D0D0"/>
                      </a:solidFill>
                    </a:lnR>
                    <a:lnT w="9525" cap="flat" cmpd="sng">
                      <a:solidFill>
                        <a:srgbClr val="D0D0D0"/>
                      </a:solidFill>
                    </a:lnT>
                    <a:lnB w="9525" cap="flat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83602"/>
                  </a:ext>
                </a:extLst>
              </a:tr>
            </a:tbl>
          </a:graphicData>
        </a:graphic>
      </p:graphicFrame>
      <p:sp>
        <p:nvSpPr>
          <p:cNvPr id="451" name="Section Label Testing Pyramid"/>
          <p:cNvSpPr txBox="1"/>
          <p:nvPr/>
        </p:nvSpPr>
        <p:spPr>
          <a:xfrm>
            <a:off x="711200" y="1302377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</a:pPr>
            <a:r>
              <a:rPr lang="en-US" sz="1000" b="1">
                <a:solidFill>
                  <a:srgbClr val="0B5394"/>
                </a:solidFill>
                <a:latin typeface="Montserrat"/>
              </a:rPr>
              <a:t>Testing Pyramid</a:t>
            </a:r>
          </a:p>
        </p:txBody>
      </p:sp>
      <p:sp>
        <p:nvSpPr>
          <p:cNvPr id="452" name="QA Deliverables Label"/>
          <p:cNvSpPr txBox="1"/>
          <p:nvPr/>
        </p:nvSpPr>
        <p:spPr>
          <a:xfrm>
            <a:off x="744200" y="3767416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rgbClr val="0B5394"/>
                </a:solidFill>
                <a:latin typeface="Montserrat"/>
              </a:rPr>
              <a:t>Per-Feature QA Deliverables</a:t>
            </a:r>
          </a:p>
        </p:txBody>
      </p:sp>
      <p:sp>
        <p:nvSpPr>
          <p:cNvPr id="453" name="QA Deliverables Box"/>
          <p:cNvSpPr txBox="1"/>
          <p:nvPr/>
        </p:nvSpPr>
        <p:spPr>
          <a:xfrm>
            <a:off x="694403" y="4045047"/>
            <a:ext cx="8128000" cy="595744"/>
          </a:xfrm>
          <a:prstGeom prst="rect">
            <a:avLst/>
          </a:prstGeom>
          <a:noFill/>
        </p:spPr>
        <p:txBody>
          <a:bodyPr wrap="square" lIns="45720" tIns="0" rIns="45720" bIns="0" anchor="t"/>
          <a:lstStyle/>
          <a:p>
            <a:pPr marL="228600" indent="-228600">
              <a:lnSpc>
                <a:spcPct val="100000"/>
              </a:lnSpc>
              <a:spcBef>
                <a:spcPts val="150"/>
              </a:spcBef>
            </a:pPr>
            <a:r>
              <a:rPr lang="en-US" sz="800" b="0" dirty="0">
                <a:solidFill>
                  <a:srgbClr val="38A169"/>
                </a:solidFill>
                <a:latin typeface="Montserrat"/>
              </a:rPr>
              <a:t>✓  Unit tests: validation of markdown parsing logic in </a:t>
            </a:r>
            <a:r>
              <a:rPr lang="en-US" sz="800" b="0" dirty="0" err="1">
                <a:solidFill>
                  <a:srgbClr val="38A169"/>
                </a:solidFill>
                <a:latin typeface="Montserrat"/>
              </a:rPr>
              <a:t>MessageProcessor.cs</a:t>
            </a:r>
            <a:endParaRPr lang="en-US" sz="800" b="0" dirty="0">
              <a:solidFill>
                <a:srgbClr val="38A169"/>
              </a:solidFill>
              <a:latin typeface="Montserrat"/>
            </a:endParaRPr>
          </a:p>
          <a:p>
            <a:pPr marL="228600" indent="-228600">
              <a:lnSpc>
                <a:spcPct val="100000"/>
              </a:lnSpc>
              <a:spcBef>
                <a:spcPts val="150"/>
              </a:spcBef>
            </a:pPr>
            <a:r>
              <a:rPr lang="en-US" sz="800" b="0" dirty="0">
                <a:solidFill>
                  <a:srgbClr val="38A169"/>
                </a:solidFill>
                <a:latin typeface="Montserrat"/>
              </a:rPr>
              <a:t>✓  Integration tests: </a:t>
            </a:r>
            <a:r>
              <a:rPr lang="en-US" sz="800" b="0" dirty="0" err="1">
                <a:solidFill>
                  <a:srgbClr val="38A169"/>
                </a:solidFill>
                <a:latin typeface="Montserrat"/>
              </a:rPr>
              <a:t>gRPC</a:t>
            </a:r>
            <a:r>
              <a:rPr lang="en-US" sz="800" b="0" dirty="0">
                <a:solidFill>
                  <a:srgbClr val="38A169"/>
                </a:solidFill>
                <a:latin typeface="Montserrat"/>
              </a:rPr>
              <a:t> and REST APIs in </a:t>
            </a:r>
            <a:r>
              <a:rPr lang="en-US" sz="800" b="0" dirty="0" err="1">
                <a:solidFill>
                  <a:srgbClr val="38A169"/>
                </a:solidFill>
                <a:latin typeface="Montserrat"/>
              </a:rPr>
              <a:t>Catalog.API</a:t>
            </a:r>
            <a:r>
              <a:rPr lang="en-US" sz="800" b="0" dirty="0">
                <a:solidFill>
                  <a:srgbClr val="38A169"/>
                </a:solidFill>
                <a:latin typeface="Montserrat"/>
              </a:rPr>
              <a:t> and </a:t>
            </a:r>
            <a:r>
              <a:rPr lang="en-US" sz="800" b="0" dirty="0" err="1">
                <a:solidFill>
                  <a:srgbClr val="38A169"/>
                </a:solidFill>
                <a:latin typeface="Montserrat"/>
              </a:rPr>
              <a:t>Basket.API</a:t>
            </a:r>
            <a:endParaRPr lang="en-US" sz="800" b="0" dirty="0">
              <a:solidFill>
                <a:srgbClr val="38A169"/>
              </a:solidFill>
              <a:latin typeface="Montserrat"/>
            </a:endParaRPr>
          </a:p>
          <a:p>
            <a:pPr marL="228600" indent="-228600">
              <a:lnSpc>
                <a:spcPct val="100000"/>
              </a:lnSpc>
              <a:spcBef>
                <a:spcPts val="150"/>
              </a:spcBef>
            </a:pPr>
            <a:r>
              <a:rPr lang="en-US" sz="800" b="0" dirty="0">
                <a:solidFill>
                  <a:srgbClr val="38A169"/>
                </a:solidFill>
                <a:latin typeface="Montserrat"/>
              </a:rPr>
              <a:t>✓  Regression tests: automated Playwright tests run against dev server for UI flows</a:t>
            </a:r>
          </a:p>
        </p:txBody>
      </p:sp>
    </p:spTree>
    <p:extLst>
      <p:ext uri="{BB962C8B-B14F-4D97-AF65-F5344CB8AC3E}">
        <p14:creationId xmlns:p14="http://schemas.microsoft.com/office/powerpoint/2010/main" val="208870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4217;p57"/>
          <p:cNvSpPr/>
          <p:nvPr/>
        </p:nvSpPr>
        <p:spPr>
          <a:xfrm>
            <a:off x="568080" y="700920"/>
            <a:ext cx="64886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Montserrat"/>
                <a:ea typeface="Montserrat"/>
              </a:rPr>
              <a:t>Key Challenges &amp; Mitigation Strategy MVP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sldNum" idx="71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811C1444-9DB7-499B-AF90-C27FAC7F5CB1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9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573" name="Table 3"/>
          <p:cNvGraphicFramePr/>
          <p:nvPr>
            <p:extLst>
              <p:ext uri="{D42A27DB-BD31-4B8C-83A1-F6EECF244321}">
                <p14:modId xmlns:p14="http://schemas.microsoft.com/office/powerpoint/2010/main" val="2174511349"/>
              </p:ext>
            </p:extLst>
          </p:nvPr>
        </p:nvGraphicFramePr>
        <p:xfrm>
          <a:off x="569160" y="1041400"/>
          <a:ext cx="8241120" cy="3957120"/>
        </p:xfrm>
        <a:graphic>
          <a:graphicData uri="http://schemas.openxmlformats.org/drawingml/2006/table">
            <a:tbl>
              <a:tblPr/>
              <a:tblGrid>
                <a:gridCol w="22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Montserrat"/>
                        </a:rPr>
                        <a:t>Category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Montserrat"/>
                        </a:rPr>
                        <a:t>Challenge / Risk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Montserrat"/>
                        </a:rPr>
                        <a:t>Impact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Montserrat"/>
                        </a:rPr>
                        <a:t>Mitigation Plan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>
                    <a:lnT w="12240" cap="flat" cmpd="sng" algn="ctr">
                      <a:solidFill>
                        <a:srgbClr val="A61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Tool Hallucinations</a:t>
                      </a:r>
                    </a:p>
                  </a:txBody>
                  <a:tcPr anchor="ctr">
                    <a:lnT w="12240" cap="flat" cmpd="sng" algn="ctr">
                      <a:solidFill>
                        <a:srgbClr val="A61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Llama 3.3 outputs conversational text while calling tools, causing </a:t>
                      </a:r>
                      <a:r>
                        <a:rPr sz="1100" dirty="0" err="1"/>
                        <a:t>ClientResultException</a:t>
                      </a:r>
                      <a:r>
                        <a:rPr sz="1100" dirty="0"/>
                        <a:t>.</a:t>
                      </a:r>
                    </a:p>
                  </a:txBody>
                  <a:tcPr>
                    <a:lnT w="12240" cap="flat" cmpd="sng" algn="ctr">
                      <a:solidFill>
                        <a:srgbClr val="A61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Prob: High Impact: High</a:t>
                      </a:r>
                    </a:p>
                  </a:txBody>
                  <a:tcPr anchor="ctr">
                    <a:lnT w="12240" cap="flat" cmpd="sng" algn="ctr">
                      <a:solidFill>
                        <a:srgbClr val="A61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Mitigation: Enforce empty text response constraint in system prompt for tool call turns.</a:t>
                      </a:r>
                    </a:p>
                  </a:txBody>
                  <a:tcPr>
                    <a:lnT w="12240" cap="flat" cmpd="sng" algn="ctr">
                      <a:solidFill>
                        <a:srgbClr val="A61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>
                    <a:solidFill>
                      <a:srgbClr val="BC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Local Resource Limits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Cosmos DB Emulator requires 3-4 GB RAM, overloading 8GB RAM local dev environments.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Prob: Medium Impact: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Mitigation: Implement </a:t>
                      </a:r>
                      <a:r>
                        <a:rPr sz="1100" dirty="0" err="1"/>
                        <a:t>ConcurrentDictionary</a:t>
                      </a:r>
                      <a:r>
                        <a:rPr sz="1100" dirty="0"/>
                        <a:t> in-memory session backup fallback in local settings.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r>
                        <a:rPr sz="1100" dirty="0"/>
                        <a:t>3</a:t>
                      </a:r>
                    </a:p>
                  </a:txBody>
                  <a:tcPr>
                    <a:solidFill>
                      <a:srgbClr val="BC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API Rate Limits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LLM provider limits rpm/</a:t>
                      </a:r>
                      <a:r>
                        <a:rPr sz="1100" dirty="0" err="1"/>
                        <a:t>tpm</a:t>
                      </a:r>
                      <a:r>
                        <a:rPr sz="1100" dirty="0"/>
                        <a:t>, freezing chatbot when multiple users send queries.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Prob: Medium Impact: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Mitigation: Implement </a:t>
                      </a:r>
                      <a:r>
                        <a:rPr sz="1100" dirty="0" err="1"/>
                        <a:t>HttpClient</a:t>
                      </a:r>
                      <a:r>
                        <a:rPr sz="1100" dirty="0"/>
                        <a:t> retry-after handler and optimize tokens in system prompts.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90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395;p31"/>
          <p:cNvGrpSpPr/>
          <p:nvPr/>
        </p:nvGrpSpPr>
        <p:grpSpPr>
          <a:xfrm>
            <a:off x="1257480" y="4905720"/>
            <a:ext cx="237240" cy="237240"/>
            <a:chOff x="1257480" y="4905720"/>
            <a:chExt cx="237240" cy="237240"/>
          </a:xfrm>
        </p:grpSpPr>
        <p:sp>
          <p:nvSpPr>
            <p:cNvPr id="493" name="Google Shape;396;p31"/>
            <p:cNvSpPr/>
            <p:nvPr/>
          </p:nvSpPr>
          <p:spPr>
            <a:xfrm>
              <a:off x="1257480" y="4905720"/>
              <a:ext cx="237240" cy="23724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494" name="Google Shape;397;p31"/>
            <p:cNvSpPr/>
            <p:nvPr/>
          </p:nvSpPr>
          <p:spPr>
            <a:xfrm rot="13500000">
              <a:off x="1328400" y="4947840"/>
              <a:ext cx="95400" cy="95400"/>
            </a:xfrm>
            <a:prstGeom prst="halfFrame">
              <a:avLst>
                <a:gd name="adj1" fmla="val 33333"/>
                <a:gd name="adj2" fmla="val 33333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</p:grpSp>
      <p:pic>
        <p:nvPicPr>
          <p:cNvPr id="495" name="Picture 1" descr="A red background with many squares&#10;&#10;Description automatically generated"/>
          <p:cNvPicPr/>
          <p:nvPr/>
        </p:nvPicPr>
        <p:blipFill>
          <a:blip r:embed="rId2"/>
          <a:stretch/>
        </p:blipFill>
        <p:spPr>
          <a:xfrm>
            <a:off x="4667400" y="568440"/>
            <a:ext cx="4505400" cy="4580640"/>
          </a:xfrm>
          <a:prstGeom prst="rect">
            <a:avLst/>
          </a:prstGeom>
          <a:ln w="0">
            <a:noFill/>
          </a:ln>
        </p:spPr>
      </p:pic>
      <p:sp>
        <p:nvSpPr>
          <p:cNvPr id="496" name="Google Shape;227;p1"/>
          <p:cNvSpPr/>
          <p:nvPr/>
        </p:nvSpPr>
        <p:spPr>
          <a:xfrm>
            <a:off x="335520" y="1992960"/>
            <a:ext cx="3619080" cy="65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90000"/>
              </a:lnSpc>
              <a:spcAft>
                <a:spcPts val="601"/>
              </a:spcAft>
            </a:pPr>
            <a:r>
              <a:rPr lang="en-US" sz="2400" b="0" strike="noStrike" spc="-1">
                <a:solidFill>
                  <a:schemeClr val="dk1"/>
                </a:solidFill>
                <a:latin typeface="Montserrat ExtraBold"/>
                <a:ea typeface="Montserrat"/>
              </a:rPr>
              <a:t>MVP Delivery Team &amp; Commercials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1"/>
          <p:cNvSpPr>
            <a:spLocks noGrp="1"/>
          </p:cNvSpPr>
          <p:nvPr>
            <p:ph type="sldNum" idx="70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r>
              <a:rPr lang="en-US" sz="700" b="0" strike="noStrike" spc="-1">
                <a:solidFill>
                  <a:schemeClr val="lt1"/>
                </a:solidFill>
                <a:latin typeface="Montserrat"/>
              </a:rPr>
              <a:t>12</a:t>
            </a:r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459;p25">
            <a:extLst>
              <a:ext uri="{FF2B5EF4-FFF2-40B4-BE49-F238E27FC236}">
                <a16:creationId xmlns:a16="http://schemas.microsoft.com/office/drawing/2014/main" id="{9F8AEB82-7B5B-E896-2B94-4FA019E2401D}"/>
              </a:ext>
            </a:extLst>
          </p:cNvPr>
          <p:cNvSpPr/>
          <p:nvPr/>
        </p:nvSpPr>
        <p:spPr>
          <a:xfrm>
            <a:off x="736392" y="688571"/>
            <a:ext cx="3681495" cy="457947"/>
          </a:xfrm>
          <a:prstGeom prst="roundRect">
            <a:avLst>
              <a:gd name="adj" fmla="val 5084"/>
            </a:avLst>
          </a:prstGeom>
          <a:solidFill>
            <a:schemeClr val="accent3">
              <a:lumMod val="20000"/>
              <a:lumOff val="80000"/>
            </a:schemeClr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154" tIns="109728" rIns="68580" bIns="9144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2000"/>
              </a:lnSpc>
              <a:spcAft>
                <a:spcPts val="600"/>
              </a:spcAft>
              <a:buClr>
                <a:srgbClr val="E56D71"/>
              </a:buClr>
              <a:buSzPct val="125000"/>
            </a:pPr>
            <a:r>
              <a:rPr lang="en-US" sz="1300" b="1" err="1">
                <a:solidFill>
                  <a:srgbClr val="C00000"/>
                </a:solidFill>
              </a:rPr>
              <a:t>RKTech</a:t>
            </a:r>
            <a:r>
              <a:rPr lang="en-US" sz="1300" b="1">
                <a:solidFill>
                  <a:srgbClr val="C00000"/>
                </a:solidFill>
              </a:rPr>
              <a:t> (Our Team) </a:t>
            </a:r>
          </a:p>
          <a:p>
            <a:pPr marL="128588" indent="-128588">
              <a:lnSpc>
                <a:spcPct val="112000"/>
              </a:lnSpc>
              <a:spcAft>
                <a:spcPts val="600"/>
              </a:spcAft>
              <a:buClr>
                <a:srgbClr val="E56D71"/>
              </a:buClr>
              <a:buSzPct val="125000"/>
              <a:buFont typeface="Arial" panose="020B0604020202020204" pitchFamily="34" charset="0"/>
              <a:buChar char="•"/>
            </a:pPr>
            <a:endParaRPr lang="en-US" sz="900"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506155-D866-88E7-A775-7462F3C1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F7D-52E7-4AE0-8168-9585849E0B2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F0917-EF4E-D56D-3524-D6B81AC761C7}"/>
              </a:ext>
            </a:extLst>
          </p:cNvPr>
          <p:cNvSpPr txBox="1"/>
          <p:nvPr/>
        </p:nvSpPr>
        <p:spPr>
          <a:xfrm>
            <a:off x="736392" y="1231900"/>
            <a:ext cx="3681495" cy="245110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  <a:prstDash val="dash"/>
          </a:ln>
        </p:spPr>
        <p:txBody>
          <a:bodyPr rot="0" spcFirstLastPara="0" vertOverflow="overflow" horzOverflow="overflow" vert="horz" wrap="square" lIns="91440" tIns="365760" rIns="91440" bIns="3657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Manage project delivery, sprint planning &amp; client communication (PM/BA)</a:t>
            </a:r>
          </a:p>
          <a:p>
            <a:pPr marL="285750" indent="-285750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Build chatbot APIs, Postgres pgvector &amp; background memory services (BE Dev)</a:t>
            </a:r>
          </a:p>
          <a:p>
            <a:pPr marL="285750" indent="-285750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Implement Blazor chatbot UI, CSS styling &amp; event handlers (FE Dev)</a:t>
            </a:r>
          </a:p>
          <a:p>
            <a:pPr marL="285750" indent="-285750"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Run xUnit tests, gRPC integration &amp; Playwright UI regression (QA)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F2BD5-2292-BDFE-0171-EA842C88BFD3}"/>
              </a:ext>
            </a:extLst>
          </p:cNvPr>
          <p:cNvSpPr txBox="1"/>
          <p:nvPr/>
        </p:nvSpPr>
        <p:spPr>
          <a:xfrm>
            <a:off x="672604" y="93622"/>
            <a:ext cx="7798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/>
              <a:t>Roles and Responsibilities  </a:t>
            </a:r>
            <a:endParaRPr lang="en-US"/>
          </a:p>
        </p:txBody>
      </p:sp>
      <p:sp>
        <p:nvSpPr>
          <p:cNvPr id="19" name="Google Shape;459;p25">
            <a:extLst>
              <a:ext uri="{FF2B5EF4-FFF2-40B4-BE49-F238E27FC236}">
                <a16:creationId xmlns:a16="http://schemas.microsoft.com/office/drawing/2014/main" id="{09DCB9D0-93A7-EDEE-3D53-4ED6929CB6B3}"/>
              </a:ext>
            </a:extLst>
          </p:cNvPr>
          <p:cNvSpPr/>
          <p:nvPr/>
        </p:nvSpPr>
        <p:spPr>
          <a:xfrm>
            <a:off x="4700427" y="688571"/>
            <a:ext cx="3681495" cy="457947"/>
          </a:xfrm>
          <a:prstGeom prst="roundRect">
            <a:avLst>
              <a:gd name="adj" fmla="val 5084"/>
            </a:avLst>
          </a:prstGeom>
          <a:solidFill>
            <a:srgbClr val="CFE2F3"/>
          </a:solidFill>
          <a:ln w="12700" cap="flat" cmpd="sng">
            <a:solidFill>
              <a:srgbClr val="276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154" tIns="109728" rIns="68580" bIns="9144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2000"/>
              </a:lnSpc>
              <a:spcAft>
                <a:spcPts val="600"/>
              </a:spcAft>
              <a:buClr>
                <a:srgbClr val="E56D71"/>
              </a:buClr>
              <a:buSzPct val="125000"/>
            </a:pPr>
            <a:r>
              <a:rPr lang="en-US" sz="1300" b="1" dirty="0">
                <a:solidFill>
                  <a:srgbClr val="2766A0"/>
                </a:solidFill>
              </a:rPr>
              <a:t>ABC (Clients)</a:t>
            </a:r>
          </a:p>
          <a:p>
            <a:pPr marL="128588" indent="-128588">
              <a:lnSpc>
                <a:spcPct val="112000"/>
              </a:lnSpc>
              <a:spcAft>
                <a:spcPts val="600"/>
              </a:spcAft>
              <a:buClr>
                <a:srgbClr val="E56D71"/>
              </a:buClr>
              <a:buSzPct val="125000"/>
              <a:buFont typeface="Arial" panose="020B0604020202020204" pitchFamily="34" charset="0"/>
              <a:buChar char="•"/>
            </a:pPr>
            <a:endParaRPr lang="en-US" sz="900" dirty="0">
              <a:sym typeface="Montserra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30B27-6DA5-669F-B60E-8F5EA024C027}"/>
              </a:ext>
            </a:extLst>
          </p:cNvPr>
          <p:cNvSpPr txBox="1"/>
          <p:nvPr/>
        </p:nvSpPr>
        <p:spPr>
          <a:xfrm>
            <a:off x="4686300" y="1231900"/>
            <a:ext cx="3681495" cy="2451100"/>
          </a:xfrm>
          <a:prstGeom prst="rect">
            <a:avLst/>
          </a:prstGeom>
          <a:solidFill>
            <a:schemeClr val="bg2"/>
          </a:solidFill>
          <a:ln>
            <a:solidFill>
              <a:srgbClr val="2766A0"/>
            </a:solidFill>
            <a:prstDash val="dash"/>
          </a:ln>
        </p:spPr>
        <p:txBody>
          <a:bodyPr rot="0" spcFirstLastPara="0" vertOverflow="overflow" horzOverflow="overflow" vert="horz" wrap="square" lIns="91440" tIns="274320" rIns="91440" bIns="2743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2766A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Provide codebase access, API docs &amp; staging database credentials (Wk 1-2)</a:t>
            </a:r>
          </a:p>
          <a:p>
            <a:pPr marL="285750" indent="-285750">
              <a:spcAft>
                <a:spcPts val="600"/>
              </a:spcAft>
              <a:buClr>
                <a:srgbClr val="2766A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Clarify eShop business logic &amp; product catalog details in 1 business day</a:t>
            </a:r>
          </a:p>
          <a:p>
            <a:pPr marL="285750" indent="-285750">
              <a:spcAft>
                <a:spcPts val="600"/>
              </a:spcAft>
              <a:buClr>
                <a:srgbClr val="2766A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Participate in UAT &amp; validate chatbot response accuracy per sprint</a:t>
            </a:r>
          </a:p>
          <a:p>
            <a:pPr marL="285750" indent="-285750">
              <a:spcAft>
                <a:spcPts val="600"/>
              </a:spcAft>
              <a:buClr>
                <a:srgbClr val="2766A0"/>
              </a:buClr>
              <a:buFont typeface="Arial" panose="020B0604020202020204" pitchFamily="34" charset="0"/>
              <a:buChar char="•"/>
            </a:pPr>
            <a:r>
              <a:rPr lang="en-US" sz="1200" baseline="0">
                <a:solidFill>
                  <a:srgbClr val="171717"/>
                </a:solidFill>
                <a:latin typeface="Montserrat"/>
              </a:rPr>
              <a:t>Provide prompt sign-off on deliverables to keep timeline on track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75260-A9CE-E045-9DA8-F480B2457351}"/>
              </a:ext>
            </a:extLst>
          </p:cNvPr>
          <p:cNvSpPr/>
          <p:nvPr/>
        </p:nvSpPr>
        <p:spPr>
          <a:xfrm>
            <a:off x="728584" y="3763811"/>
            <a:ext cx="7659088" cy="562374"/>
          </a:xfrm>
          <a:prstGeom prst="rect">
            <a:avLst/>
          </a:prstGeom>
          <a:solidFill>
            <a:srgbClr val="CFE2F3"/>
          </a:solidFill>
          <a:ln w="12700" cap="flat" cmpd="sng">
            <a:solidFill>
              <a:srgbClr val="276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154" tIns="109728" rIns="68580" bIns="91440" anchor="ctr" anchorCtr="0">
            <a:noAutofit/>
          </a:bodyPr>
          <a:lstStyle/>
          <a:p>
            <a:pPr algn="ctr" defTabSz="685800">
              <a:lnSpc>
                <a:spcPct val="112000"/>
              </a:lnSpc>
              <a:spcAft>
                <a:spcPts val="600"/>
              </a:spcAft>
              <a:buClr>
                <a:srgbClr val="E56D71"/>
              </a:buClr>
              <a:buSzPct val="125000"/>
            </a:pPr>
            <a:r>
              <a:rPr lang="en-US" sz="1000" b="1" dirty="0">
                <a:solidFill>
                  <a:srgbClr val="2766A0"/>
                </a:solidFill>
              </a:rPr>
              <a:t>⏳  STRICT CLIENT TIME COMMITMENT — We protect ABC leadership's bandwidth. No unnecessary meetings.</a:t>
            </a:r>
          </a:p>
        </p:txBody>
      </p:sp>
    </p:spTree>
    <p:extLst>
      <p:ext uri="{BB962C8B-B14F-4D97-AF65-F5344CB8AC3E}">
        <p14:creationId xmlns:p14="http://schemas.microsoft.com/office/powerpoint/2010/main" val="2044072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9D7D-64D8-18FE-9CB8-9A074A8B4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395;p31">
            <a:extLst>
              <a:ext uri="{FF2B5EF4-FFF2-40B4-BE49-F238E27FC236}">
                <a16:creationId xmlns:a16="http://schemas.microsoft.com/office/drawing/2014/main" id="{33F87EBB-B2EF-1B18-D917-B01D032BB44A}"/>
              </a:ext>
            </a:extLst>
          </p:cNvPr>
          <p:cNvGrpSpPr/>
          <p:nvPr/>
        </p:nvGrpSpPr>
        <p:grpSpPr>
          <a:xfrm>
            <a:off x="1257480" y="4905720"/>
            <a:ext cx="237240" cy="237240"/>
            <a:chOff x="1257480" y="4905720"/>
            <a:chExt cx="237240" cy="237240"/>
          </a:xfrm>
        </p:grpSpPr>
        <p:sp>
          <p:nvSpPr>
            <p:cNvPr id="493" name="Google Shape;396;p31">
              <a:extLst>
                <a:ext uri="{FF2B5EF4-FFF2-40B4-BE49-F238E27FC236}">
                  <a16:creationId xmlns:a16="http://schemas.microsoft.com/office/drawing/2014/main" id="{6BE9C562-37CE-A95C-C6B3-3F3836BB3067}"/>
                </a:ext>
              </a:extLst>
            </p:cNvPr>
            <p:cNvSpPr/>
            <p:nvPr/>
          </p:nvSpPr>
          <p:spPr>
            <a:xfrm>
              <a:off x="1257480" y="4905720"/>
              <a:ext cx="237240" cy="23724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494" name="Google Shape;397;p31">
              <a:extLst>
                <a:ext uri="{FF2B5EF4-FFF2-40B4-BE49-F238E27FC236}">
                  <a16:creationId xmlns:a16="http://schemas.microsoft.com/office/drawing/2014/main" id="{5CF61A85-F299-E906-767D-ADFBFAC93FC1}"/>
                </a:ext>
              </a:extLst>
            </p:cNvPr>
            <p:cNvSpPr/>
            <p:nvPr/>
          </p:nvSpPr>
          <p:spPr>
            <a:xfrm rot="13500000">
              <a:off x="1328400" y="4947840"/>
              <a:ext cx="95400" cy="95400"/>
            </a:xfrm>
            <a:prstGeom prst="halfFrame">
              <a:avLst>
                <a:gd name="adj1" fmla="val 33333"/>
                <a:gd name="adj2" fmla="val 33333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</p:grpSp>
      <p:pic>
        <p:nvPicPr>
          <p:cNvPr id="495" name="Picture 1" descr="A red background with many squares&#10;&#10;Description automatically generated">
            <a:extLst>
              <a:ext uri="{FF2B5EF4-FFF2-40B4-BE49-F238E27FC236}">
                <a16:creationId xmlns:a16="http://schemas.microsoft.com/office/drawing/2014/main" id="{6235C294-5405-BAAA-4B68-88B21D31640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667400" y="568440"/>
            <a:ext cx="4505400" cy="4580640"/>
          </a:xfrm>
          <a:prstGeom prst="rect">
            <a:avLst/>
          </a:prstGeom>
          <a:ln w="0">
            <a:noFill/>
          </a:ln>
        </p:spPr>
      </p:pic>
      <p:sp>
        <p:nvSpPr>
          <p:cNvPr id="496" name="Google Shape;227;p1">
            <a:extLst>
              <a:ext uri="{FF2B5EF4-FFF2-40B4-BE49-F238E27FC236}">
                <a16:creationId xmlns:a16="http://schemas.microsoft.com/office/drawing/2014/main" id="{25BF4A37-5D59-E0C2-85F4-22DD0D610949}"/>
              </a:ext>
            </a:extLst>
          </p:cNvPr>
          <p:cNvSpPr/>
          <p:nvPr/>
        </p:nvSpPr>
        <p:spPr>
          <a:xfrm>
            <a:off x="335520" y="1992960"/>
            <a:ext cx="3619080" cy="664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90000"/>
              </a:lnSpc>
              <a:spcAft>
                <a:spcPts val="601"/>
              </a:spcAft>
            </a:pPr>
            <a:r>
              <a:rPr lang="en-US" sz="2400" spc="-1">
                <a:solidFill>
                  <a:schemeClr val="dk1"/>
                </a:solidFill>
                <a:latin typeface="Montserrat ExtraBold"/>
              </a:rPr>
              <a:t>AI Advanced features suggestion</a:t>
            </a:r>
            <a:endParaRPr lang="en-US" sz="2400" b="0" strike="noStrike" spc="-1">
              <a:solidFill>
                <a:schemeClr val="dk1"/>
              </a:solidFill>
              <a:latin typeface="Montserrat ExtraBold"/>
            </a:endParaRPr>
          </a:p>
        </p:txBody>
      </p:sp>
      <p:sp>
        <p:nvSpPr>
          <p:cNvPr id="497" name="PlaceHolder 1">
            <a:extLst>
              <a:ext uri="{FF2B5EF4-FFF2-40B4-BE49-F238E27FC236}">
                <a16:creationId xmlns:a16="http://schemas.microsoft.com/office/drawing/2014/main" id="{5F8EABB1-25FB-C50C-28DD-5A3839FE4A15}"/>
              </a:ext>
            </a:extLst>
          </p:cNvPr>
          <p:cNvSpPr>
            <a:spLocks noGrp="1"/>
          </p:cNvSpPr>
          <p:nvPr>
            <p:ph type="sldNum" idx="70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r>
              <a:rPr lang="en-US" sz="700" b="0" strike="noStrike" spc="-1">
                <a:solidFill>
                  <a:schemeClr val="lt1"/>
                </a:solidFill>
                <a:latin typeface="Montserrat"/>
              </a:rPr>
              <a:t>12</a:t>
            </a:r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6762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Num" idx="69"/>
          </p:nvPr>
        </p:nvSpPr>
        <p:spPr>
          <a:xfrm>
            <a:off x="8872200" y="218160"/>
            <a:ext cx="308160" cy="1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685800">
              <a:lnSpc>
                <a:spcPct val="100000"/>
              </a:lnSpc>
              <a:buNone/>
              <a:defRPr lang="en-US" sz="700" b="0" strike="noStrike" spc="-1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685800">
              <a:lnSpc>
                <a:spcPct val="100000"/>
              </a:lnSpc>
              <a:buNone/>
            </a:pPr>
            <a:fld id="{71816B9A-77DF-4DE6-97CC-3332C143F65C}" type="slidenum">
              <a:rPr lang="en-US" sz="700" b="0" strike="noStrike" spc="-1">
                <a:solidFill>
                  <a:schemeClr val="lt1"/>
                </a:solidFill>
                <a:latin typeface="Montserrat"/>
              </a:rPr>
              <a:t>13</a:t>
            </a:fld>
            <a:endParaRPr lang="en-US" sz="7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Google Shape;4217;p57"/>
          <p:cNvSpPr/>
          <p:nvPr/>
        </p:nvSpPr>
        <p:spPr>
          <a:xfrm>
            <a:off x="1267560" y="139680"/>
            <a:ext cx="65937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Montserrat"/>
              </a:rPr>
              <a:t>Proposed Dashboard &amp; Chatbot Capabilities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570;p31"/>
          <p:cNvSpPr/>
          <p:nvPr/>
        </p:nvSpPr>
        <p:spPr>
          <a:xfrm>
            <a:off x="571680" y="858600"/>
            <a:ext cx="8146080" cy="422640"/>
          </a:xfrm>
          <a:prstGeom prst="roundRect">
            <a:avLst>
              <a:gd name="adj" fmla="val 4979"/>
            </a:avLst>
          </a:prstGeom>
          <a:solidFill>
            <a:schemeClr val="bg2"/>
          </a:solidFill>
          <a:ln w="3175">
            <a:solidFill>
              <a:srgbClr val="BC2127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685800">
              <a:lnSpc>
                <a:spcPct val="100000"/>
              </a:lnSpc>
              <a:spcBef>
                <a:spcPts val="300"/>
              </a:spcBef>
            </a:pPr>
            <a:r>
              <a:rPr lang="en-US" sz="900" b="1" strike="noStrike" spc="-1" dirty="0">
                <a:solidFill>
                  <a:schemeClr val="accent1"/>
                </a:solidFill>
                <a:latin typeface="Montserrat"/>
              </a:rPr>
              <a:t>Key Objective: Deliver an AI chatbot shopping assistant to automate product discovery, semantic search, and cart actions directly in the chat panel.</a:t>
            </a:r>
          </a:p>
        </p:txBody>
      </p:sp>
      <p:sp>
        <p:nvSpPr>
          <p:cNvPr id="391" name="Google Shape;459;p25"/>
          <p:cNvSpPr/>
          <p:nvPr/>
        </p:nvSpPr>
        <p:spPr>
          <a:xfrm>
            <a:off x="3885120" y="1710720"/>
            <a:ext cx="1529640" cy="1834200"/>
          </a:xfrm>
          <a:prstGeom prst="roundRect">
            <a:avLst>
              <a:gd name="adj" fmla="val 2117"/>
            </a:avLst>
          </a:prstGeom>
          <a:solidFill>
            <a:srgbClr val="D8EAF6"/>
          </a:solidFill>
          <a:ln w="3175">
            <a:solidFill>
              <a:srgbClr val="4472C4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27360" bIns="72000" anchor="t">
            <a:noAutofit/>
          </a:bodyPr>
          <a:lstStyle/>
          <a:p>
            <a:pPr defTabSz="343080">
              <a:lnSpc>
                <a:spcPct val="114000"/>
              </a:lnSpc>
              <a:spcBef>
                <a:spcPts val="201"/>
              </a:spcBef>
              <a:spcAft>
                <a:spcPts val="201"/>
              </a:spcAft>
            </a:pP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900" b="1" strike="noStrike" spc="-1">
                <a:solidFill>
                  <a:srgbClr val="0070C0"/>
                </a:solidFill>
                <a:latin typeface="Montserrat"/>
              </a:rPr>
              <a:t>Project-Level Dashboard</a:t>
            </a:r>
          </a:p>
          <a:p>
            <a:pPr defTabSz="343080">
              <a:lnSpc>
                <a:spcPct val="114000"/>
              </a:lnSpc>
            </a:pP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</a:pPr>
            <a:r>
              <a:rPr lang="en-US" sz="800" b="0" strike="noStrike" spc="-1">
                <a:solidFill>
                  <a:schemeClr val="dk1"/>
                </a:solidFill>
                <a:latin typeface="Montserrat"/>
              </a:rPr>
              <a:t>Track active chat sessions, successful cart additions via AI, average response latency, and frequent product queries.</a:t>
            </a:r>
          </a:p>
        </p:txBody>
      </p:sp>
      <p:sp>
        <p:nvSpPr>
          <p:cNvPr id="392" name="Google Shape;228;p14"/>
          <p:cNvSpPr/>
          <p:nvPr/>
        </p:nvSpPr>
        <p:spPr>
          <a:xfrm>
            <a:off x="3978000" y="1803960"/>
            <a:ext cx="132120" cy="132120"/>
          </a:xfrm>
          <a:custGeom>
            <a:avLst/>
            <a:gdLst>
              <a:gd name="textAreaLeft" fmla="*/ 0 w 132120"/>
              <a:gd name="textAreaRight" fmla="*/ 132480 w 132120"/>
              <a:gd name="textAreaTop" fmla="*/ 0 h 132120"/>
              <a:gd name="textAreaBottom" fmla="*/ 132480 h 132120"/>
            </a:gdLst>
            <a:ahLst/>
            <a:cxnLst/>
            <a:rect l="textAreaLeft" t="textAreaTop" r="textAreaRight" b="textAreaBottom"/>
            <a:pathLst>
              <a:path w="771" h="771">
                <a:moveTo>
                  <a:pt x="609" y="0"/>
                </a:moveTo>
                <a:cubicBezTo>
                  <a:pt x="586" y="0"/>
                  <a:pt x="567" y="20"/>
                  <a:pt x="567" y="42"/>
                </a:cubicBezTo>
                <a:lnTo>
                  <a:pt x="567" y="123"/>
                </a:lnTo>
                <a:lnTo>
                  <a:pt x="486" y="123"/>
                </a:lnTo>
                <a:cubicBezTo>
                  <a:pt x="463" y="123"/>
                  <a:pt x="447" y="139"/>
                  <a:pt x="447" y="162"/>
                </a:cubicBezTo>
                <a:cubicBezTo>
                  <a:pt x="447" y="185"/>
                  <a:pt x="463" y="204"/>
                  <a:pt x="486" y="204"/>
                </a:cubicBezTo>
                <a:lnTo>
                  <a:pt x="567" y="204"/>
                </a:lnTo>
                <a:lnTo>
                  <a:pt x="567" y="285"/>
                </a:lnTo>
                <a:cubicBezTo>
                  <a:pt x="567" y="304"/>
                  <a:pt x="586" y="324"/>
                  <a:pt x="609" y="324"/>
                </a:cubicBezTo>
                <a:cubicBezTo>
                  <a:pt x="628" y="324"/>
                  <a:pt x="648" y="304"/>
                  <a:pt x="648" y="285"/>
                </a:cubicBezTo>
                <a:lnTo>
                  <a:pt x="648" y="204"/>
                </a:lnTo>
                <a:lnTo>
                  <a:pt x="729" y="204"/>
                </a:lnTo>
                <a:cubicBezTo>
                  <a:pt x="751" y="204"/>
                  <a:pt x="771" y="185"/>
                  <a:pt x="771" y="162"/>
                </a:cubicBezTo>
                <a:cubicBezTo>
                  <a:pt x="771" y="139"/>
                  <a:pt x="751" y="123"/>
                  <a:pt x="729" y="123"/>
                </a:cubicBezTo>
                <a:lnTo>
                  <a:pt x="648" y="123"/>
                </a:lnTo>
                <a:lnTo>
                  <a:pt x="648" y="42"/>
                </a:lnTo>
                <a:cubicBezTo>
                  <a:pt x="648" y="20"/>
                  <a:pt x="628" y="0"/>
                  <a:pt x="609" y="0"/>
                </a:cubicBezTo>
                <a:close/>
                <a:moveTo>
                  <a:pt x="204" y="366"/>
                </a:moveTo>
                <a:cubicBezTo>
                  <a:pt x="181" y="366"/>
                  <a:pt x="162" y="382"/>
                  <a:pt x="162" y="405"/>
                </a:cubicBezTo>
                <a:lnTo>
                  <a:pt x="162" y="609"/>
                </a:lnTo>
                <a:lnTo>
                  <a:pt x="243" y="609"/>
                </a:lnTo>
                <a:lnTo>
                  <a:pt x="243" y="405"/>
                </a:lnTo>
                <a:cubicBezTo>
                  <a:pt x="243" y="382"/>
                  <a:pt x="223" y="366"/>
                  <a:pt x="204" y="366"/>
                </a:cubicBezTo>
                <a:close/>
                <a:moveTo>
                  <a:pt x="366" y="285"/>
                </a:moveTo>
                <a:cubicBezTo>
                  <a:pt x="343" y="285"/>
                  <a:pt x="324" y="301"/>
                  <a:pt x="324" y="324"/>
                </a:cubicBezTo>
                <a:lnTo>
                  <a:pt x="324" y="609"/>
                </a:lnTo>
                <a:lnTo>
                  <a:pt x="405" y="609"/>
                </a:lnTo>
                <a:lnTo>
                  <a:pt x="405" y="324"/>
                </a:lnTo>
                <a:cubicBezTo>
                  <a:pt x="405" y="301"/>
                  <a:pt x="385" y="285"/>
                  <a:pt x="366" y="285"/>
                </a:cubicBezTo>
                <a:close/>
                <a:moveTo>
                  <a:pt x="528" y="447"/>
                </a:moveTo>
                <a:cubicBezTo>
                  <a:pt x="505" y="447"/>
                  <a:pt x="486" y="463"/>
                  <a:pt x="486" y="486"/>
                </a:cubicBezTo>
                <a:lnTo>
                  <a:pt x="486" y="609"/>
                </a:lnTo>
                <a:lnTo>
                  <a:pt x="567" y="609"/>
                </a:lnTo>
                <a:lnTo>
                  <a:pt x="567" y="486"/>
                </a:lnTo>
                <a:cubicBezTo>
                  <a:pt x="567" y="463"/>
                  <a:pt x="547" y="447"/>
                  <a:pt x="528" y="447"/>
                </a:cubicBezTo>
                <a:close/>
                <a:moveTo>
                  <a:pt x="81" y="42"/>
                </a:moveTo>
                <a:cubicBezTo>
                  <a:pt x="36" y="42"/>
                  <a:pt x="0" y="78"/>
                  <a:pt x="0" y="123"/>
                </a:cubicBezTo>
                <a:lnTo>
                  <a:pt x="0" y="690"/>
                </a:lnTo>
                <a:cubicBezTo>
                  <a:pt x="0" y="732"/>
                  <a:pt x="36" y="771"/>
                  <a:pt x="81" y="771"/>
                </a:cubicBezTo>
                <a:lnTo>
                  <a:pt x="648" y="771"/>
                </a:lnTo>
                <a:cubicBezTo>
                  <a:pt x="693" y="771"/>
                  <a:pt x="729" y="732"/>
                  <a:pt x="729" y="690"/>
                </a:cubicBezTo>
                <a:lnTo>
                  <a:pt x="729" y="486"/>
                </a:lnTo>
                <a:cubicBezTo>
                  <a:pt x="729" y="463"/>
                  <a:pt x="709" y="447"/>
                  <a:pt x="690" y="447"/>
                </a:cubicBezTo>
                <a:cubicBezTo>
                  <a:pt x="667" y="447"/>
                  <a:pt x="648" y="463"/>
                  <a:pt x="648" y="486"/>
                </a:cubicBezTo>
                <a:lnTo>
                  <a:pt x="648" y="690"/>
                </a:lnTo>
                <a:lnTo>
                  <a:pt x="81" y="690"/>
                </a:lnTo>
                <a:lnTo>
                  <a:pt x="81" y="123"/>
                </a:lnTo>
                <a:lnTo>
                  <a:pt x="285" y="123"/>
                </a:lnTo>
                <a:cubicBezTo>
                  <a:pt x="304" y="123"/>
                  <a:pt x="324" y="104"/>
                  <a:pt x="324" y="81"/>
                </a:cubicBezTo>
                <a:cubicBezTo>
                  <a:pt x="324" y="58"/>
                  <a:pt x="304" y="42"/>
                  <a:pt x="285" y="42"/>
                </a:cubicBezTo>
                <a:close/>
              </a:path>
            </a:pathLst>
          </a:cu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240" bIns="6624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350" b="0" strike="noStrike" spc="-1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93" name="Google Shape;459;p25"/>
          <p:cNvSpPr/>
          <p:nvPr/>
        </p:nvSpPr>
        <p:spPr>
          <a:xfrm>
            <a:off x="2225520" y="1710360"/>
            <a:ext cx="1532880" cy="1834200"/>
          </a:xfrm>
          <a:prstGeom prst="roundRect">
            <a:avLst>
              <a:gd name="adj" fmla="val 2117"/>
            </a:avLst>
          </a:prstGeom>
          <a:solidFill>
            <a:srgbClr val="D8EAF6"/>
          </a:solidFill>
          <a:ln w="3175">
            <a:solidFill>
              <a:srgbClr val="4472C4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t">
            <a:noAutofit/>
          </a:bodyPr>
          <a:lstStyle/>
          <a:p>
            <a:pPr defTabSz="343080">
              <a:lnSpc>
                <a:spcPct val="114000"/>
              </a:lnSpc>
              <a:spcBef>
                <a:spcPts val="201"/>
              </a:spcBef>
              <a:spcAft>
                <a:spcPts val="201"/>
              </a:spcAft>
            </a:pP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900" b="1" strike="noStrike" spc="-1">
                <a:solidFill>
                  <a:srgbClr val="0070C0"/>
                </a:solidFill>
                <a:latin typeface="Montserrat"/>
              </a:rPr>
              <a:t>Portfolio-Level Dashboard</a:t>
            </a:r>
          </a:p>
          <a:p>
            <a:pPr defTabSz="343080">
              <a:lnSpc>
                <a:spcPct val="114000"/>
              </a:lnSpc>
            </a:pP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</a:pPr>
            <a:r>
              <a:rPr lang="en-US" sz="800" b="0" strike="noStrike" spc="-1">
                <a:solidFill>
                  <a:schemeClr val="dk1"/>
                </a:solidFill>
                <a:latin typeface="Montserrat"/>
              </a:rPr>
              <a:t>Compare chatbot usage, customer conversion rates, and purchase success across multiple eShop project instances.</a:t>
            </a:r>
          </a:p>
        </p:txBody>
      </p:sp>
      <p:sp>
        <p:nvSpPr>
          <p:cNvPr id="394" name="Google Shape;700;p16"/>
          <p:cNvSpPr/>
          <p:nvPr/>
        </p:nvSpPr>
        <p:spPr>
          <a:xfrm>
            <a:off x="2293560" y="1811520"/>
            <a:ext cx="150120" cy="130320"/>
          </a:xfrm>
          <a:custGeom>
            <a:avLst/>
            <a:gdLst>
              <a:gd name="textAreaLeft" fmla="*/ 0 w 150120"/>
              <a:gd name="textAreaRight" fmla="*/ 150480 w 150120"/>
              <a:gd name="textAreaTop" fmla="*/ 0 h 130320"/>
              <a:gd name="textAreaBottom" fmla="*/ 130680 h 130320"/>
            </a:gdLst>
            <a:ahLst/>
            <a:cxnLst/>
            <a:rect l="textAreaLeft" t="textAreaTop" r="textAreaRight" b="textAreaBottom"/>
            <a:pathLst>
              <a:path w="720" h="664">
                <a:moveTo>
                  <a:pt x="360" y="103"/>
                </a:moveTo>
                <a:lnTo>
                  <a:pt x="428" y="268"/>
                </a:lnTo>
                <a:lnTo>
                  <a:pt x="606" y="284"/>
                </a:lnTo>
                <a:lnTo>
                  <a:pt x="470" y="398"/>
                </a:lnTo>
                <a:lnTo>
                  <a:pt x="512" y="572"/>
                </a:lnTo>
                <a:lnTo>
                  <a:pt x="360" y="478"/>
                </a:lnTo>
                <a:lnTo>
                  <a:pt x="208" y="572"/>
                </a:lnTo>
                <a:lnTo>
                  <a:pt x="208" y="572"/>
                </a:lnTo>
                <a:lnTo>
                  <a:pt x="247" y="398"/>
                </a:lnTo>
                <a:lnTo>
                  <a:pt x="114" y="281"/>
                </a:lnTo>
                <a:lnTo>
                  <a:pt x="289" y="268"/>
                </a:lnTo>
                <a:lnTo>
                  <a:pt x="360" y="103"/>
                </a:lnTo>
                <a:close/>
                <a:moveTo>
                  <a:pt x="359" y="1"/>
                </a:moveTo>
                <a:cubicBezTo>
                  <a:pt x="343" y="1"/>
                  <a:pt x="328" y="9"/>
                  <a:pt x="321" y="25"/>
                </a:cubicBezTo>
                <a:lnTo>
                  <a:pt x="244" y="207"/>
                </a:lnTo>
                <a:lnTo>
                  <a:pt x="49" y="223"/>
                </a:lnTo>
                <a:cubicBezTo>
                  <a:pt x="14" y="226"/>
                  <a:pt x="1" y="271"/>
                  <a:pt x="27" y="294"/>
                </a:cubicBezTo>
                <a:lnTo>
                  <a:pt x="176" y="423"/>
                </a:lnTo>
                <a:lnTo>
                  <a:pt x="130" y="614"/>
                </a:lnTo>
                <a:cubicBezTo>
                  <a:pt x="125" y="640"/>
                  <a:pt x="146" y="663"/>
                  <a:pt x="170" y="663"/>
                </a:cubicBezTo>
                <a:cubicBezTo>
                  <a:pt x="177" y="663"/>
                  <a:pt x="185" y="661"/>
                  <a:pt x="192" y="657"/>
                </a:cubicBezTo>
                <a:lnTo>
                  <a:pt x="360" y="556"/>
                </a:lnTo>
                <a:lnTo>
                  <a:pt x="525" y="657"/>
                </a:lnTo>
                <a:cubicBezTo>
                  <a:pt x="533" y="661"/>
                  <a:pt x="541" y="663"/>
                  <a:pt x="549" y="663"/>
                </a:cubicBezTo>
                <a:cubicBezTo>
                  <a:pt x="573" y="663"/>
                  <a:pt x="594" y="642"/>
                  <a:pt x="587" y="614"/>
                </a:cubicBezTo>
                <a:lnTo>
                  <a:pt x="541" y="423"/>
                </a:lnTo>
                <a:lnTo>
                  <a:pt x="690" y="294"/>
                </a:lnTo>
                <a:cubicBezTo>
                  <a:pt x="720" y="271"/>
                  <a:pt x="703" y="226"/>
                  <a:pt x="668" y="223"/>
                </a:cubicBezTo>
                <a:lnTo>
                  <a:pt x="474" y="207"/>
                </a:lnTo>
                <a:lnTo>
                  <a:pt x="396" y="25"/>
                </a:lnTo>
                <a:cubicBezTo>
                  <a:pt x="389" y="9"/>
                  <a:pt x="374" y="1"/>
                  <a:pt x="359" y="1"/>
                </a:cubicBezTo>
                <a:close/>
              </a:path>
            </a:pathLst>
          </a:cu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5160" bIns="6516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350" b="0" strike="noStrike" spc="-1">
              <a:solidFill>
                <a:schemeClr val="accent6"/>
              </a:solidFill>
              <a:latin typeface="Montserrat"/>
            </a:endParaRPr>
          </a:p>
        </p:txBody>
      </p:sp>
      <p:sp>
        <p:nvSpPr>
          <p:cNvPr id="395" name="Google Shape;459;p25"/>
          <p:cNvSpPr/>
          <p:nvPr/>
        </p:nvSpPr>
        <p:spPr>
          <a:xfrm>
            <a:off x="574920" y="1710720"/>
            <a:ext cx="1529640" cy="1834200"/>
          </a:xfrm>
          <a:prstGeom prst="roundRect">
            <a:avLst>
              <a:gd name="adj" fmla="val 2117"/>
            </a:avLst>
          </a:prstGeom>
          <a:solidFill>
            <a:srgbClr val="D8EAF6"/>
          </a:solidFill>
          <a:ln w="3175">
            <a:solidFill>
              <a:srgbClr val="4472C4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72000" rIns="72000" bIns="72000" anchor="t">
            <a:noAutofit/>
          </a:bodyPr>
          <a:lstStyle/>
          <a:p>
            <a:pPr defTabSz="343080">
              <a:lnSpc>
                <a:spcPct val="114000"/>
              </a:lnSpc>
              <a:spcBef>
                <a:spcPts val="201"/>
              </a:spcBef>
              <a:spcAft>
                <a:spcPts val="201"/>
              </a:spcAft>
            </a:pP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900" b="1" strike="noStrike" spc="-1">
                <a:solidFill>
                  <a:srgbClr val="0070C0"/>
                </a:solidFill>
                <a:latin typeface="Montserrat"/>
              </a:rPr>
              <a:t>Platform Analytics</a:t>
            </a:r>
          </a:p>
          <a:p>
            <a:pPr defTabSz="343080">
              <a:lnSpc>
                <a:spcPct val="114000"/>
              </a:lnSpc>
            </a:pP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</a:pPr>
            <a:r>
              <a:rPr lang="en-US" sz="800" b="0" strike="noStrike" spc="-1">
                <a:solidFill>
                  <a:schemeClr val="dk1"/>
                </a:solidFill>
                <a:latin typeface="Montserrat"/>
              </a:rPr>
              <a:t>Track overall platform metrics: catalog item popularity trends, user growth, and feature adoption rates.</a:t>
            </a:r>
          </a:p>
        </p:txBody>
      </p:sp>
      <p:sp>
        <p:nvSpPr>
          <p:cNvPr id="396" name="Google Shape;463;p15"/>
          <p:cNvSpPr/>
          <p:nvPr/>
        </p:nvSpPr>
        <p:spPr>
          <a:xfrm>
            <a:off x="671040" y="1803960"/>
            <a:ext cx="145800" cy="132120"/>
          </a:xfrm>
          <a:custGeom>
            <a:avLst/>
            <a:gdLst>
              <a:gd name="textAreaLeft" fmla="*/ 0 w 145800"/>
              <a:gd name="textAreaRight" fmla="*/ 146160 w 145800"/>
              <a:gd name="textAreaTop" fmla="*/ 0 h 132120"/>
              <a:gd name="textAreaBottom" fmla="*/ 132480 h 132120"/>
            </a:gdLst>
            <a:ahLst/>
            <a:cxnLst/>
            <a:rect l="textAreaLeft" t="textAreaTop" r="textAreaRight" b="textAreaBottom"/>
            <a:pathLst>
              <a:path w="804" h="617">
                <a:moveTo>
                  <a:pt x="40" y="109"/>
                </a:moveTo>
                <a:cubicBezTo>
                  <a:pt x="17" y="109"/>
                  <a:pt x="1" y="126"/>
                  <a:pt x="1" y="148"/>
                </a:cubicBezTo>
                <a:cubicBezTo>
                  <a:pt x="1" y="171"/>
                  <a:pt x="17" y="190"/>
                  <a:pt x="40" y="190"/>
                </a:cubicBezTo>
                <a:lnTo>
                  <a:pt x="325" y="190"/>
                </a:lnTo>
                <a:cubicBezTo>
                  <a:pt x="344" y="190"/>
                  <a:pt x="363" y="171"/>
                  <a:pt x="363" y="148"/>
                </a:cubicBezTo>
                <a:cubicBezTo>
                  <a:pt x="363" y="126"/>
                  <a:pt x="344" y="109"/>
                  <a:pt x="325" y="109"/>
                </a:cubicBezTo>
                <a:close/>
                <a:moveTo>
                  <a:pt x="758" y="0"/>
                </a:moveTo>
                <a:cubicBezTo>
                  <a:pt x="748" y="0"/>
                  <a:pt x="737" y="4"/>
                  <a:pt x="729" y="12"/>
                </a:cubicBezTo>
                <a:lnTo>
                  <a:pt x="587" y="155"/>
                </a:lnTo>
                <a:lnTo>
                  <a:pt x="532" y="100"/>
                </a:lnTo>
                <a:cubicBezTo>
                  <a:pt x="524" y="92"/>
                  <a:pt x="513" y="88"/>
                  <a:pt x="503" y="88"/>
                </a:cubicBezTo>
                <a:cubicBezTo>
                  <a:pt x="492" y="88"/>
                  <a:pt x="482" y="92"/>
                  <a:pt x="474" y="100"/>
                </a:cubicBezTo>
                <a:cubicBezTo>
                  <a:pt x="457" y="113"/>
                  <a:pt x="457" y="139"/>
                  <a:pt x="474" y="155"/>
                </a:cubicBezTo>
                <a:lnTo>
                  <a:pt x="558" y="242"/>
                </a:lnTo>
                <a:cubicBezTo>
                  <a:pt x="566" y="250"/>
                  <a:pt x="576" y="254"/>
                  <a:pt x="587" y="254"/>
                </a:cubicBezTo>
                <a:cubicBezTo>
                  <a:pt x="597" y="254"/>
                  <a:pt x="608" y="250"/>
                  <a:pt x="616" y="242"/>
                </a:cubicBezTo>
                <a:lnTo>
                  <a:pt x="788" y="71"/>
                </a:lnTo>
                <a:cubicBezTo>
                  <a:pt x="804" y="54"/>
                  <a:pt x="804" y="29"/>
                  <a:pt x="788" y="12"/>
                </a:cubicBezTo>
                <a:cubicBezTo>
                  <a:pt x="779" y="4"/>
                  <a:pt x="769" y="0"/>
                  <a:pt x="758" y="0"/>
                </a:cubicBezTo>
                <a:close/>
                <a:moveTo>
                  <a:pt x="40" y="433"/>
                </a:moveTo>
                <a:cubicBezTo>
                  <a:pt x="17" y="433"/>
                  <a:pt x="1" y="449"/>
                  <a:pt x="1" y="472"/>
                </a:cubicBezTo>
                <a:cubicBezTo>
                  <a:pt x="1" y="495"/>
                  <a:pt x="17" y="514"/>
                  <a:pt x="40" y="514"/>
                </a:cubicBezTo>
                <a:lnTo>
                  <a:pt x="325" y="514"/>
                </a:lnTo>
                <a:cubicBezTo>
                  <a:pt x="344" y="514"/>
                  <a:pt x="363" y="495"/>
                  <a:pt x="363" y="472"/>
                </a:cubicBezTo>
                <a:cubicBezTo>
                  <a:pt x="363" y="449"/>
                  <a:pt x="344" y="433"/>
                  <a:pt x="325" y="433"/>
                </a:cubicBezTo>
                <a:close/>
                <a:moveTo>
                  <a:pt x="503" y="327"/>
                </a:moveTo>
                <a:cubicBezTo>
                  <a:pt x="492" y="327"/>
                  <a:pt x="482" y="331"/>
                  <a:pt x="474" y="339"/>
                </a:cubicBezTo>
                <a:cubicBezTo>
                  <a:pt x="457" y="356"/>
                  <a:pt x="457" y="381"/>
                  <a:pt x="474" y="394"/>
                </a:cubicBezTo>
                <a:lnTo>
                  <a:pt x="548" y="472"/>
                </a:lnTo>
                <a:lnTo>
                  <a:pt x="474" y="550"/>
                </a:lnTo>
                <a:cubicBezTo>
                  <a:pt x="457" y="563"/>
                  <a:pt x="457" y="589"/>
                  <a:pt x="474" y="605"/>
                </a:cubicBezTo>
                <a:cubicBezTo>
                  <a:pt x="482" y="613"/>
                  <a:pt x="492" y="617"/>
                  <a:pt x="503" y="617"/>
                </a:cubicBezTo>
                <a:cubicBezTo>
                  <a:pt x="513" y="617"/>
                  <a:pt x="524" y="613"/>
                  <a:pt x="532" y="605"/>
                </a:cubicBezTo>
                <a:lnTo>
                  <a:pt x="606" y="530"/>
                </a:lnTo>
                <a:lnTo>
                  <a:pt x="684" y="605"/>
                </a:lnTo>
                <a:cubicBezTo>
                  <a:pt x="690" y="613"/>
                  <a:pt x="700" y="617"/>
                  <a:pt x="710" y="617"/>
                </a:cubicBezTo>
                <a:cubicBezTo>
                  <a:pt x="720" y="617"/>
                  <a:pt x="731" y="613"/>
                  <a:pt x="739" y="605"/>
                </a:cubicBezTo>
                <a:cubicBezTo>
                  <a:pt x="755" y="589"/>
                  <a:pt x="755" y="563"/>
                  <a:pt x="739" y="550"/>
                </a:cubicBezTo>
                <a:lnTo>
                  <a:pt x="665" y="472"/>
                </a:lnTo>
                <a:lnTo>
                  <a:pt x="739" y="394"/>
                </a:lnTo>
                <a:cubicBezTo>
                  <a:pt x="755" y="381"/>
                  <a:pt x="755" y="356"/>
                  <a:pt x="739" y="339"/>
                </a:cubicBezTo>
                <a:cubicBezTo>
                  <a:pt x="731" y="331"/>
                  <a:pt x="720" y="327"/>
                  <a:pt x="710" y="327"/>
                </a:cubicBezTo>
                <a:cubicBezTo>
                  <a:pt x="700" y="327"/>
                  <a:pt x="690" y="331"/>
                  <a:pt x="684" y="339"/>
                </a:cubicBezTo>
                <a:lnTo>
                  <a:pt x="606" y="414"/>
                </a:lnTo>
                <a:lnTo>
                  <a:pt x="532" y="339"/>
                </a:lnTo>
                <a:cubicBezTo>
                  <a:pt x="524" y="331"/>
                  <a:pt x="513" y="327"/>
                  <a:pt x="503" y="327"/>
                </a:cubicBezTo>
                <a:close/>
              </a:path>
            </a:pathLst>
          </a:cu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240" bIns="6624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350" b="0" strike="noStrike" spc="-1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97" name="Google Shape;459;p25"/>
          <p:cNvSpPr/>
          <p:nvPr/>
        </p:nvSpPr>
        <p:spPr>
          <a:xfrm>
            <a:off x="5536080" y="1710720"/>
            <a:ext cx="1529640" cy="1834200"/>
          </a:xfrm>
          <a:prstGeom prst="roundRect">
            <a:avLst>
              <a:gd name="adj" fmla="val 2117"/>
            </a:avLst>
          </a:prstGeom>
          <a:solidFill>
            <a:srgbClr val="EEB1FA">
              <a:alpha val="41000"/>
            </a:srgbClr>
          </a:solidFill>
          <a:ln w="3175">
            <a:solidFill>
              <a:srgbClr val="7030A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t">
            <a:noAutofit/>
          </a:bodyPr>
          <a:lstStyle/>
          <a:p>
            <a:pPr defTabSz="343080">
              <a:lnSpc>
                <a:spcPct val="114000"/>
              </a:lnSpc>
              <a:spcBef>
                <a:spcPts val="201"/>
              </a:spcBef>
              <a:spcAft>
                <a:spcPts val="201"/>
              </a:spcAft>
            </a:pP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900" b="1" strike="noStrike" spc="-1" dirty="0">
                <a:solidFill>
                  <a:srgbClr val="7030A0"/>
                </a:solidFill>
                <a:latin typeface="Montserrat"/>
              </a:rPr>
              <a:t>Advanced AI Insights</a:t>
            </a:r>
          </a:p>
          <a:p>
            <a:pPr defTabSz="343080">
              <a:lnSpc>
                <a:spcPct val="114000"/>
              </a:lnSpc>
            </a:pP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</a:pPr>
            <a:r>
              <a:rPr lang="en-US" sz="800" b="0" strike="noStrike" spc="-1" dirty="0">
                <a:solidFill>
                  <a:schemeClr val="dk1"/>
                </a:solidFill>
                <a:latin typeface="Montserrat"/>
              </a:rPr>
              <a:t>Phase 3 expansion: AI-assisted analysis generating natural language summaries of performance metrics for stakeholders.</a:t>
            </a:r>
          </a:p>
        </p:txBody>
      </p:sp>
      <p:sp>
        <p:nvSpPr>
          <p:cNvPr id="398" name="Google Shape;543;p15"/>
          <p:cNvSpPr/>
          <p:nvPr/>
        </p:nvSpPr>
        <p:spPr>
          <a:xfrm>
            <a:off x="5603760" y="1803960"/>
            <a:ext cx="153360" cy="146160"/>
          </a:xfrm>
          <a:custGeom>
            <a:avLst/>
            <a:gdLst>
              <a:gd name="textAreaLeft" fmla="*/ 0 w 153360"/>
              <a:gd name="textAreaRight" fmla="*/ 153720 w 153360"/>
              <a:gd name="textAreaTop" fmla="*/ 0 h 146160"/>
              <a:gd name="textAreaBottom" fmla="*/ 146520 h 146160"/>
            </a:gdLst>
            <a:ahLst/>
            <a:cxnLst/>
            <a:rect l="textAreaLeft" t="textAreaTop" r="textAreaRight" b="textAreaBottom"/>
            <a:pathLst>
              <a:path w="892" h="850">
                <a:moveTo>
                  <a:pt x="606" y="276"/>
                </a:moveTo>
                <a:cubicBezTo>
                  <a:pt x="617" y="276"/>
                  <a:pt x="627" y="279"/>
                  <a:pt x="636" y="286"/>
                </a:cubicBezTo>
                <a:lnTo>
                  <a:pt x="639" y="289"/>
                </a:lnTo>
                <a:cubicBezTo>
                  <a:pt x="655" y="305"/>
                  <a:pt x="655" y="331"/>
                  <a:pt x="639" y="347"/>
                </a:cubicBezTo>
                <a:lnTo>
                  <a:pt x="399" y="587"/>
                </a:lnTo>
                <a:cubicBezTo>
                  <a:pt x="391" y="595"/>
                  <a:pt x="381" y="599"/>
                  <a:pt x="370" y="599"/>
                </a:cubicBezTo>
                <a:cubicBezTo>
                  <a:pt x="360" y="599"/>
                  <a:pt x="349" y="595"/>
                  <a:pt x="341" y="587"/>
                </a:cubicBezTo>
                <a:lnTo>
                  <a:pt x="244" y="490"/>
                </a:lnTo>
                <a:cubicBezTo>
                  <a:pt x="228" y="474"/>
                  <a:pt x="228" y="448"/>
                  <a:pt x="244" y="435"/>
                </a:cubicBezTo>
                <a:lnTo>
                  <a:pt x="247" y="431"/>
                </a:lnTo>
                <a:cubicBezTo>
                  <a:pt x="255" y="423"/>
                  <a:pt x="266" y="419"/>
                  <a:pt x="276" y="419"/>
                </a:cubicBezTo>
                <a:cubicBezTo>
                  <a:pt x="287" y="419"/>
                  <a:pt x="297" y="423"/>
                  <a:pt x="305" y="431"/>
                </a:cubicBezTo>
                <a:lnTo>
                  <a:pt x="370" y="496"/>
                </a:lnTo>
                <a:lnTo>
                  <a:pt x="577" y="286"/>
                </a:lnTo>
                <a:cubicBezTo>
                  <a:pt x="585" y="279"/>
                  <a:pt x="596" y="276"/>
                  <a:pt x="606" y="276"/>
                </a:cubicBezTo>
                <a:close/>
                <a:moveTo>
                  <a:pt x="309" y="1"/>
                </a:moveTo>
                <a:lnTo>
                  <a:pt x="231" y="130"/>
                </a:lnTo>
                <a:lnTo>
                  <a:pt x="85" y="163"/>
                </a:lnTo>
                <a:lnTo>
                  <a:pt x="101" y="312"/>
                </a:lnTo>
                <a:lnTo>
                  <a:pt x="1" y="425"/>
                </a:lnTo>
                <a:lnTo>
                  <a:pt x="101" y="538"/>
                </a:lnTo>
                <a:lnTo>
                  <a:pt x="85" y="687"/>
                </a:lnTo>
                <a:lnTo>
                  <a:pt x="231" y="720"/>
                </a:lnTo>
                <a:lnTo>
                  <a:pt x="309" y="849"/>
                </a:lnTo>
                <a:lnTo>
                  <a:pt x="448" y="791"/>
                </a:lnTo>
                <a:lnTo>
                  <a:pt x="584" y="849"/>
                </a:lnTo>
                <a:lnTo>
                  <a:pt x="661" y="720"/>
                </a:lnTo>
                <a:lnTo>
                  <a:pt x="807" y="687"/>
                </a:lnTo>
                <a:lnTo>
                  <a:pt x="794" y="538"/>
                </a:lnTo>
                <a:lnTo>
                  <a:pt x="891" y="425"/>
                </a:lnTo>
                <a:lnTo>
                  <a:pt x="794" y="312"/>
                </a:lnTo>
                <a:lnTo>
                  <a:pt x="807" y="163"/>
                </a:lnTo>
                <a:lnTo>
                  <a:pt x="661" y="130"/>
                </a:lnTo>
                <a:lnTo>
                  <a:pt x="584" y="1"/>
                </a:lnTo>
                <a:lnTo>
                  <a:pt x="448" y="59"/>
                </a:lnTo>
                <a:lnTo>
                  <a:pt x="309" y="1"/>
                </a:lnTo>
                <a:close/>
              </a:path>
            </a:pathLst>
          </a:custGeom>
          <a:solidFill>
            <a:srgbClr val="EEB1FA">
              <a:alpha val="41000"/>
            </a:srgbClr>
          </a:solidFill>
          <a:ln w="0">
            <a:solidFill>
              <a:srgbClr val="7030A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3080" bIns="7308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350" b="0" strike="noStrike" spc="-1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99" name="Google Shape;767;p133"/>
          <p:cNvSpPr/>
          <p:nvPr/>
        </p:nvSpPr>
        <p:spPr>
          <a:xfrm>
            <a:off x="571680" y="3650760"/>
            <a:ext cx="8146080" cy="998280"/>
          </a:xfrm>
          <a:prstGeom prst="rect">
            <a:avLst/>
          </a:prstGeom>
          <a:solidFill>
            <a:schemeClr val="bg2"/>
          </a:solidFill>
          <a:ln w="3175">
            <a:solidFill>
              <a:srgbClr val="4472C4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12000"/>
              </a:lnSpc>
            </a:pPr>
            <a:r>
              <a:rPr lang="en-US" sz="900" b="1" strike="noStrike" spc="-1">
                <a:solidFill>
                  <a:srgbClr val="0070C0"/>
                </a:solidFill>
                <a:latin typeface="Montserrat"/>
              </a:rPr>
              <a:t>Key MVP Deliverables (Phase 1):</a:t>
            </a:r>
          </a:p>
          <a:p>
            <a:pPr marL="689040" lvl="1" indent="-171360" defTabSz="685800">
              <a:lnSpc>
                <a:spcPct val="112000"/>
              </a:lnSpc>
              <a:spcBef>
                <a:spcPts val="201"/>
              </a:spcBef>
              <a:spcAft>
                <a:spcPts val="201"/>
              </a:spcAft>
              <a:buClr>
                <a:srgbClr val="FF5969"/>
              </a:buClr>
              <a:buFont typeface="Roboto"/>
              <a:buChar char="●"/>
            </a:pPr>
            <a:r>
              <a:rPr lang="en-US" sz="800" b="1" strike="noStrike" spc="-1">
                <a:solidFill>
                  <a:srgbClr val="3D3D3D"/>
                </a:solidFill>
                <a:latin typeface="Montserrat"/>
              </a:rPr>
              <a:t>Chatbot Web UI component in Blazor and gRPC communication layer between WebApp, Catalog.API, and Basket.API.</a:t>
            </a:r>
          </a:p>
          <a:p>
            <a:pPr marL="689040" lvl="1" indent="-171360" defTabSz="685800">
              <a:lnSpc>
                <a:spcPct val="112000"/>
              </a:lnSpc>
              <a:spcBef>
                <a:spcPts val="201"/>
              </a:spcBef>
              <a:spcAft>
                <a:spcPts val="201"/>
              </a:spcAft>
              <a:buClr>
                <a:srgbClr val="FF5969"/>
              </a:buClr>
              <a:buFont typeface="Roboto"/>
              <a:buChar char="●"/>
            </a:pPr>
            <a:r>
              <a:rPr lang="en-US" sz="800" b="1" strike="noStrike" spc="-1">
                <a:solidFill>
                  <a:srgbClr val="3D3D3D"/>
                </a:solidFill>
                <a:latin typeface="Montserrat"/>
              </a:rPr>
              <a:t>Semantic search API endpoints using PostgreSQL pgvector and local Ollama embeddings, with in-memory fallback.</a:t>
            </a:r>
          </a:p>
          <a:p>
            <a:pPr marL="689040" lvl="1" indent="-171360" defTabSz="685800">
              <a:lnSpc>
                <a:spcPct val="112000"/>
              </a:lnSpc>
              <a:spcBef>
                <a:spcPts val="201"/>
              </a:spcBef>
              <a:spcAft>
                <a:spcPts val="201"/>
              </a:spcAft>
              <a:buClr>
                <a:srgbClr val="FF5969"/>
              </a:buClr>
              <a:buFont typeface="Roboto"/>
              <a:buChar char="●"/>
            </a:pPr>
            <a:r>
              <a:rPr lang="en-US" sz="800" b="1" strike="noStrike" spc="-1">
                <a:solidFill>
                  <a:srgbClr val="3D3D3D"/>
                </a:solidFill>
                <a:latin typeface="Montserrat"/>
              </a:rPr>
              <a:t>Real-time cart updates and badge synchronization using the BasketUpdateNotifier event listener.</a:t>
            </a:r>
          </a:p>
        </p:txBody>
      </p:sp>
      <p:sp>
        <p:nvSpPr>
          <p:cNvPr id="400" name="Google Shape;459;p25"/>
          <p:cNvSpPr/>
          <p:nvPr/>
        </p:nvSpPr>
        <p:spPr>
          <a:xfrm>
            <a:off x="7188120" y="1710720"/>
            <a:ext cx="1529640" cy="1834200"/>
          </a:xfrm>
          <a:prstGeom prst="roundRect">
            <a:avLst>
              <a:gd name="adj" fmla="val 2117"/>
            </a:avLst>
          </a:prstGeom>
          <a:solidFill>
            <a:srgbClr val="EEB1FA">
              <a:alpha val="41000"/>
            </a:srgbClr>
          </a:solidFill>
          <a:ln w="3175">
            <a:solidFill>
              <a:srgbClr val="7030A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t">
            <a:noAutofit/>
          </a:bodyPr>
          <a:lstStyle/>
          <a:p>
            <a:pPr defTabSz="343080">
              <a:lnSpc>
                <a:spcPct val="114000"/>
              </a:lnSpc>
              <a:spcBef>
                <a:spcPts val="201"/>
              </a:spcBef>
              <a:spcAft>
                <a:spcPts val="201"/>
              </a:spcAft>
            </a:pP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  <a:spcBef>
                <a:spcPts val="201"/>
              </a:spcBef>
              <a:spcAft>
                <a:spcPts val="201"/>
              </a:spcAft>
            </a:pPr>
            <a:r>
              <a:rPr lang="en-US" sz="900" b="1" strike="noStrike" spc="-1" dirty="0">
                <a:solidFill>
                  <a:srgbClr val="7030A0"/>
                </a:solidFill>
                <a:latin typeface="Montserrat"/>
              </a:rPr>
              <a:t>Advanced AI Insights</a:t>
            </a:r>
          </a:p>
          <a:p>
            <a:pPr defTabSz="343080">
              <a:lnSpc>
                <a:spcPct val="114000"/>
              </a:lnSpc>
            </a:pP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343080">
              <a:lnSpc>
                <a:spcPct val="113000"/>
              </a:lnSpc>
            </a:pPr>
            <a:r>
              <a:rPr lang="en-US" sz="800" b="0" strike="noStrike" spc="-1" dirty="0">
                <a:solidFill>
                  <a:schemeClr val="dk1"/>
                </a:solidFill>
                <a:latin typeface="Montserrat"/>
              </a:rPr>
              <a:t>Phase 3: LLM-powered checkout recommendations and dynamic UI generation based on customer shopping history.</a:t>
            </a:r>
          </a:p>
        </p:txBody>
      </p:sp>
      <p:sp>
        <p:nvSpPr>
          <p:cNvPr id="401" name="Google Shape;380;p14"/>
          <p:cNvSpPr/>
          <p:nvPr/>
        </p:nvSpPr>
        <p:spPr>
          <a:xfrm>
            <a:off x="7279560" y="1823040"/>
            <a:ext cx="97560" cy="139320"/>
          </a:xfrm>
          <a:custGeom>
            <a:avLst/>
            <a:gdLst>
              <a:gd name="textAreaLeft" fmla="*/ 0 w 97560"/>
              <a:gd name="textAreaRight" fmla="*/ 97920 w 97560"/>
              <a:gd name="textAreaTop" fmla="*/ 0 h 139320"/>
              <a:gd name="textAreaBottom" fmla="*/ 139680 h 139320"/>
            </a:gdLst>
            <a:ahLst/>
            <a:cxnLst/>
            <a:rect l="textAreaLeft" t="textAreaTop" r="textAreaRight" b="textAreaBottom"/>
            <a:pathLst>
              <a:path w="568" h="810">
                <a:moveTo>
                  <a:pt x="286" y="81"/>
                </a:moveTo>
                <a:cubicBezTo>
                  <a:pt x="396" y="81"/>
                  <a:pt x="487" y="172"/>
                  <a:pt x="487" y="285"/>
                </a:cubicBezTo>
                <a:cubicBezTo>
                  <a:pt x="487" y="350"/>
                  <a:pt x="454" y="411"/>
                  <a:pt x="399" y="450"/>
                </a:cubicBezTo>
                <a:lnTo>
                  <a:pt x="367" y="473"/>
                </a:lnTo>
                <a:lnTo>
                  <a:pt x="367" y="567"/>
                </a:lnTo>
                <a:lnTo>
                  <a:pt x="205" y="567"/>
                </a:lnTo>
                <a:lnTo>
                  <a:pt x="205" y="473"/>
                </a:lnTo>
                <a:lnTo>
                  <a:pt x="169" y="450"/>
                </a:lnTo>
                <a:cubicBezTo>
                  <a:pt x="114" y="411"/>
                  <a:pt x="82" y="350"/>
                  <a:pt x="82" y="285"/>
                </a:cubicBezTo>
                <a:cubicBezTo>
                  <a:pt x="82" y="172"/>
                  <a:pt x="173" y="81"/>
                  <a:pt x="286" y="81"/>
                </a:cubicBezTo>
                <a:close/>
                <a:moveTo>
                  <a:pt x="286" y="0"/>
                </a:moveTo>
                <a:cubicBezTo>
                  <a:pt x="127" y="0"/>
                  <a:pt x="1" y="126"/>
                  <a:pt x="1" y="285"/>
                </a:cubicBezTo>
                <a:cubicBezTo>
                  <a:pt x="1" y="379"/>
                  <a:pt x="50" y="463"/>
                  <a:pt x="124" y="515"/>
                </a:cubicBezTo>
                <a:lnTo>
                  <a:pt x="124" y="609"/>
                </a:lnTo>
                <a:cubicBezTo>
                  <a:pt x="124" y="628"/>
                  <a:pt x="140" y="648"/>
                  <a:pt x="163" y="648"/>
                </a:cubicBezTo>
                <a:lnTo>
                  <a:pt x="406" y="648"/>
                </a:lnTo>
                <a:cubicBezTo>
                  <a:pt x="428" y="648"/>
                  <a:pt x="448" y="628"/>
                  <a:pt x="448" y="609"/>
                </a:cubicBezTo>
                <a:lnTo>
                  <a:pt x="448" y="515"/>
                </a:lnTo>
                <a:cubicBezTo>
                  <a:pt x="519" y="463"/>
                  <a:pt x="568" y="379"/>
                  <a:pt x="568" y="285"/>
                </a:cubicBezTo>
                <a:cubicBezTo>
                  <a:pt x="568" y="126"/>
                  <a:pt x="441" y="0"/>
                  <a:pt x="286" y="0"/>
                </a:cubicBezTo>
                <a:close/>
                <a:moveTo>
                  <a:pt x="163" y="728"/>
                </a:moveTo>
                <a:lnTo>
                  <a:pt x="163" y="771"/>
                </a:lnTo>
                <a:cubicBezTo>
                  <a:pt x="163" y="790"/>
                  <a:pt x="182" y="809"/>
                  <a:pt x="205" y="809"/>
                </a:cubicBezTo>
                <a:lnTo>
                  <a:pt x="367" y="809"/>
                </a:lnTo>
                <a:cubicBezTo>
                  <a:pt x="386" y="809"/>
                  <a:pt x="406" y="790"/>
                  <a:pt x="406" y="771"/>
                </a:cubicBezTo>
                <a:lnTo>
                  <a:pt x="406" y="728"/>
                </a:lnTo>
                <a:close/>
              </a:path>
            </a:pathLst>
          </a:custGeom>
          <a:solidFill>
            <a:srgbClr val="EEB1FA">
              <a:alpha val="41000"/>
            </a:srgbClr>
          </a:solidFill>
          <a:ln w="0">
            <a:solidFill>
              <a:srgbClr val="7030A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9840" bIns="6984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350" b="0" strike="noStrike" spc="-1">
              <a:solidFill>
                <a:schemeClr val="dk1"/>
              </a:solidFill>
              <a:latin typeface="Montserrat"/>
            </a:endParaRPr>
          </a:p>
        </p:txBody>
      </p:sp>
      <p:cxnSp>
        <p:nvCxnSpPr>
          <p:cNvPr id="402" name="Elbow Connector 86"/>
          <p:cNvCxnSpPr>
            <a:endCxn id="391" idx="0"/>
          </p:cNvCxnSpPr>
          <p:nvPr/>
        </p:nvCxnSpPr>
        <p:spPr>
          <a:xfrm rot="16200000" flipH="1">
            <a:off x="4101480" y="1162080"/>
            <a:ext cx="206640" cy="891000"/>
          </a:xfrm>
          <a:prstGeom prst="bentConnector3">
            <a:avLst>
              <a:gd name="adj1" fmla="val 174"/>
            </a:avLst>
          </a:prstGeom>
          <a:ln w="3175">
            <a:solidFill>
              <a:srgbClr val="0072C0"/>
            </a:solidFill>
            <a:prstDash val="lgDash"/>
          </a:ln>
        </p:spPr>
      </p:cxnSp>
      <p:sp>
        <p:nvSpPr>
          <p:cNvPr id="403" name="Google Shape;767;p133"/>
          <p:cNvSpPr/>
          <p:nvPr/>
        </p:nvSpPr>
        <p:spPr>
          <a:xfrm>
            <a:off x="2225880" y="1410120"/>
            <a:ext cx="1532880" cy="188280"/>
          </a:xfrm>
          <a:prstGeom prst="rect">
            <a:avLst/>
          </a:prstGeom>
          <a:solidFill>
            <a:schemeClr val="bg2"/>
          </a:solidFill>
          <a:ln w="3175">
            <a:solidFill>
              <a:srgbClr val="4472C4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12000"/>
              </a:lnSpc>
            </a:pPr>
            <a:r>
              <a:rPr lang="en-US" sz="800" b="1" strike="noStrike" spc="-1">
                <a:solidFill>
                  <a:srgbClr val="0070C0"/>
                </a:solidFill>
                <a:latin typeface="Montserrat"/>
              </a:rPr>
              <a:t>Core Chatbot MVP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4" name="Straight Connector 6"/>
          <p:cNvCxnSpPr/>
          <p:nvPr/>
        </p:nvCxnSpPr>
        <p:spPr>
          <a:xfrm flipV="1">
            <a:off x="2991960" y="1598760"/>
            <a:ext cx="720" cy="111600"/>
          </a:xfrm>
          <a:prstGeom prst="straightConnector1">
            <a:avLst/>
          </a:prstGeom>
          <a:ln>
            <a:solidFill>
              <a:srgbClr val="0072C0"/>
            </a:solidFill>
            <a:prstDash val="lgDash"/>
          </a:ln>
        </p:spPr>
      </p:cxnSp>
      <p:sp>
        <p:nvSpPr>
          <p:cNvPr id="405" name="Google Shape;767;p133"/>
          <p:cNvSpPr/>
          <p:nvPr/>
        </p:nvSpPr>
        <p:spPr>
          <a:xfrm>
            <a:off x="6463800" y="1404720"/>
            <a:ext cx="1305000" cy="188280"/>
          </a:xfrm>
          <a:prstGeom prst="rect">
            <a:avLst/>
          </a:prstGeom>
          <a:solidFill>
            <a:schemeClr val="bg2"/>
          </a:solidFill>
          <a:ln w="3175">
            <a:solidFill>
              <a:srgbClr val="7030A0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12000"/>
              </a:lnSpc>
            </a:pPr>
            <a:r>
              <a:rPr lang="en-US" sz="800" b="1" strike="noStrike" spc="-1">
                <a:solidFill>
                  <a:srgbClr val="7030A0"/>
                </a:solidFill>
                <a:latin typeface="Montserrat"/>
              </a:rPr>
              <a:t>Expanded AI Roadmap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6" name="Elbow Connector 86"/>
          <p:cNvCxnSpPr/>
          <p:nvPr/>
        </p:nvCxnSpPr>
        <p:spPr>
          <a:xfrm rot="10800000" flipV="1">
            <a:off x="1339560" y="1504080"/>
            <a:ext cx="886680" cy="206640"/>
          </a:xfrm>
          <a:prstGeom prst="bentConnector3">
            <a:avLst>
              <a:gd name="adj1" fmla="val 100000"/>
            </a:avLst>
          </a:prstGeom>
          <a:ln w="3175">
            <a:solidFill>
              <a:srgbClr val="0072C0"/>
            </a:solidFill>
            <a:prstDash val="lgDash"/>
          </a:ln>
        </p:spPr>
      </p:cxnSp>
      <p:cxnSp>
        <p:nvCxnSpPr>
          <p:cNvPr id="407" name="Elbow Connector 86"/>
          <p:cNvCxnSpPr/>
          <p:nvPr/>
        </p:nvCxnSpPr>
        <p:spPr>
          <a:xfrm rot="16200000" flipH="1">
            <a:off x="7754760" y="1512720"/>
            <a:ext cx="212040" cy="184320"/>
          </a:xfrm>
          <a:prstGeom prst="bentConnector3">
            <a:avLst>
              <a:gd name="adj1" fmla="val 0"/>
            </a:avLst>
          </a:prstGeom>
          <a:ln w="3175">
            <a:solidFill>
              <a:srgbClr val="7030A0"/>
            </a:solidFill>
            <a:prstDash val="lgDash"/>
          </a:ln>
        </p:spPr>
      </p:cxnSp>
      <p:cxnSp>
        <p:nvCxnSpPr>
          <p:cNvPr id="408" name="Elbow Connector 86"/>
          <p:cNvCxnSpPr/>
          <p:nvPr/>
        </p:nvCxnSpPr>
        <p:spPr>
          <a:xfrm rot="5400000">
            <a:off x="6276240" y="1523520"/>
            <a:ext cx="212040" cy="163080"/>
          </a:xfrm>
          <a:prstGeom prst="bentConnector3">
            <a:avLst>
              <a:gd name="adj1" fmla="val 0"/>
            </a:avLst>
          </a:prstGeom>
          <a:ln w="3175">
            <a:solidFill>
              <a:srgbClr val="7030A0"/>
            </a:solidFill>
            <a:prstDash val="lgDash"/>
          </a:ln>
        </p:spPr>
      </p:cxnSp>
      <p:sp>
        <p:nvSpPr>
          <p:cNvPr id="409" name="TextBox 10"/>
          <p:cNvSpPr/>
          <p:nvPr/>
        </p:nvSpPr>
        <p:spPr>
          <a:xfrm>
            <a:off x="570960" y="4712400"/>
            <a:ext cx="814428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spAutoFit/>
          </a:bodyPr>
          <a:lstStyle/>
          <a:p>
            <a:pPr algn="just" defTabSz="685800"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333333"/>
                </a:solidFill>
                <a:latin typeface="Montserrat"/>
              </a:rPr>
              <a:t>Note: All chatbot sessions are tenant-scoped — project managers see only assigned data; customer sessions are strictly isolated via JWT filters.</a:t>
            </a:r>
          </a:p>
        </p:txBody>
      </p:sp>
    </p:spTree>
    <p:extLst>
      <p:ext uri="{BB962C8B-B14F-4D97-AF65-F5344CB8AC3E}">
        <p14:creationId xmlns:p14="http://schemas.microsoft.com/office/powerpoint/2010/main" val="1429280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217;p57"/>
          <p:cNvSpPr/>
          <p:nvPr/>
        </p:nvSpPr>
        <p:spPr>
          <a:xfrm>
            <a:off x="1311480" y="144000"/>
            <a:ext cx="65426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Montserrat"/>
              </a:rPr>
              <a:t>Proposed AI Scope &amp; Approach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065E3AAE-2A46-4950-A401-406454385C8C}" type="slidenum">
              <a:rPr/>
              <a:t>14</a:t>
            </a:fld>
            <a:endParaRPr/>
          </a:p>
        </p:txBody>
      </p:sp>
      <p:sp>
        <p:nvSpPr>
          <p:cNvPr id="500" name="KeyObj BG"/>
          <p:cNvSpPr/>
          <p:nvPr/>
        </p:nvSpPr>
        <p:spPr>
          <a:xfrm>
            <a:off x="266700" y="457200"/>
            <a:ext cx="8597900" cy="254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" name="KeyObj Text"/>
          <p:cNvSpPr txBox="1"/>
          <p:nvPr/>
        </p:nvSpPr>
        <p:spPr>
          <a:xfrm>
            <a:off x="266700" y="457200"/>
            <a:ext cx="8597900" cy="254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0000"/>
              </a:lnSpc>
              <a:spcBef>
                <a:spcPts val="80"/>
              </a:spcBef>
            </a:pPr>
            <a:r>
              <a:rPr lang="en-US" sz="800" b="0" dirty="0">
                <a:solidFill>
                  <a:srgbClr val="FFFFFF"/>
                </a:solidFill>
                <a:latin typeface="Montserrat"/>
              </a:rPr>
              <a:t>Key Objective: Secure, tenant-scoped data retrieval and real-time interactive UI for the shopping assistant.</a:t>
            </a:r>
          </a:p>
        </p:txBody>
      </p:sp>
      <p:sp>
        <p:nvSpPr>
          <p:cNvPr id="502" name="ColA Header"/>
          <p:cNvSpPr/>
          <p:nvPr/>
        </p:nvSpPr>
        <p:spPr>
          <a:xfrm>
            <a:off x="266700" y="736600"/>
            <a:ext cx="2413000" cy="1778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3" name="ColA Header Text"/>
          <p:cNvSpPr txBox="1"/>
          <p:nvPr/>
        </p:nvSpPr>
        <p:spPr>
          <a:xfrm>
            <a:off x="266700" y="736600"/>
            <a:ext cx="2413000" cy="177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lang="en-US" sz="700" b="1">
                <a:solidFill>
                  <a:srgbClr val="FFFFFF"/>
                </a:solidFill>
                <a:latin typeface="Montserrat"/>
              </a:rPr>
              <a:t>Chatbot Data Store</a:t>
            </a:r>
          </a:p>
        </p:txBody>
      </p:sp>
      <p:sp>
        <p:nvSpPr>
          <p:cNvPr id="504" name="ColA Box"/>
          <p:cNvSpPr/>
          <p:nvPr/>
        </p:nvSpPr>
        <p:spPr>
          <a:xfrm>
            <a:off x="266700" y="914400"/>
            <a:ext cx="2413000" cy="3149600"/>
          </a:xfrm>
          <a:prstGeom prst="rect">
            <a:avLst/>
          </a:prstGeom>
          <a:solidFill>
            <a:srgbClr val="EBF3FF"/>
          </a:solidFill>
          <a:ln w="12700">
            <a:solidFill>
              <a:srgbClr val="115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" name="ColA Content"/>
          <p:cNvSpPr txBox="1"/>
          <p:nvPr/>
        </p:nvSpPr>
        <p:spPr>
          <a:xfrm>
            <a:off x="304800" y="965200"/>
            <a:ext cx="2336800" cy="3048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0000"/>
              </a:lnSpc>
              <a:spcBef>
                <a:spcPts val="80"/>
              </a:spcBef>
            </a:pPr>
            <a:r>
              <a:rPr lang="en-US" sz="800" b="1">
                <a:solidFill>
                  <a:srgbClr val="0B5394"/>
                </a:solidFill>
                <a:latin typeface="Montserrat"/>
              </a:rPr>
              <a:t>Data Inputs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8A169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Product catalog items with pgvector embeddings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8A169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Chat session histories saved asynchronously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8A169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In-memory cache for local development fallback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8A169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Multi-tenant scoped — JWT-enforced per customer &amp; store</a:t>
            </a:r>
          </a:p>
          <a:p>
            <a:pPr algn="l">
              <a:lnSpc>
                <a:spcPct val="110000"/>
              </a:lnSpc>
              <a:spcBef>
                <a:spcPts val="80"/>
              </a:spcBef>
            </a:pPr>
            <a:endParaRPr lang="en-US" sz="770" b="0">
              <a:solidFill>
                <a:srgbClr val="3D3D3D"/>
              </a:solidFill>
              <a:latin typeface="Montserrat"/>
            </a:endParaRPr>
          </a:p>
          <a:p>
            <a:pPr algn="l">
              <a:lnSpc>
                <a:spcPct val="110000"/>
              </a:lnSpc>
              <a:spcBef>
                <a:spcPts val="80"/>
              </a:spcBef>
            </a:pPr>
            <a:r>
              <a:rPr lang="en-US" sz="800" b="1">
                <a:solidFill>
                  <a:srgbClr val="0B5394"/>
                </a:solidFill>
                <a:latin typeface="Montserrat"/>
              </a:rPr>
              <a:t>Interaction Points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182CE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User prompt — "Show red running shoes under $50"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182CE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Tool calls — SearchCatalog and AddToCart intents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182CE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Real-time events — BasketUpdateNotifier badge trigger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182CE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System triggers — checkout reminder on cart abandonment</a:t>
            </a:r>
          </a:p>
        </p:txBody>
      </p:sp>
      <p:sp>
        <p:nvSpPr>
          <p:cNvPr id="510" name="Arrow 510"/>
          <p:cNvSpPr/>
          <p:nvPr/>
        </p:nvSpPr>
        <p:spPr>
          <a:xfrm>
            <a:off x="2692400" y="2235200"/>
            <a:ext cx="279400" cy="2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1" name="ColB Header"/>
          <p:cNvSpPr/>
          <p:nvPr/>
        </p:nvSpPr>
        <p:spPr>
          <a:xfrm>
            <a:off x="3035300" y="736600"/>
            <a:ext cx="3048000" cy="1778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2" name="ColB Header Text"/>
          <p:cNvSpPr txBox="1"/>
          <p:nvPr/>
        </p:nvSpPr>
        <p:spPr>
          <a:xfrm>
            <a:off x="3035300" y="736600"/>
            <a:ext cx="3048000" cy="177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lang="en-US" sz="700" b="1">
                <a:solidFill>
                  <a:srgbClr val="FFFFFF"/>
                </a:solidFill>
                <a:latin typeface="Montserrat"/>
              </a:rPr>
              <a:t>AI Processing Pipeline</a:t>
            </a:r>
          </a:p>
        </p:txBody>
      </p:sp>
      <p:sp>
        <p:nvSpPr>
          <p:cNvPr id="513" name="ColB Box"/>
          <p:cNvSpPr/>
          <p:nvPr/>
        </p:nvSpPr>
        <p:spPr>
          <a:xfrm>
            <a:off x="3035300" y="914400"/>
            <a:ext cx="3048000" cy="3149600"/>
          </a:xfrm>
          <a:prstGeom prst="rect">
            <a:avLst/>
          </a:prstGeom>
          <a:solidFill>
            <a:srgbClr val="F9F0FF"/>
          </a:solidFill>
          <a:ln w="12700">
            <a:solidFill>
              <a:srgbClr val="7030A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4" name="ColB Content"/>
          <p:cNvSpPr txBox="1"/>
          <p:nvPr/>
        </p:nvSpPr>
        <p:spPr>
          <a:xfrm>
            <a:off x="3073400" y="965200"/>
            <a:ext cx="2971800" cy="3048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lang="en-US" sz="800" b="1" dirty="0">
                <a:solidFill>
                  <a:srgbClr val="7030A0"/>
                </a:solidFill>
                <a:latin typeface="Montserrat"/>
              </a:rPr>
              <a:t>Step 1 — Semantic Retrieval</a:t>
            </a:r>
          </a:p>
          <a:p>
            <a:pPr marL="171450" indent="-171450">
              <a:lnSpc>
                <a:spcPct val="110000"/>
              </a:lnSpc>
              <a:spcBef>
                <a:spcPts val="12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50" b="1" dirty="0">
                <a:solidFill>
                  <a:srgbClr val="3D3D3D"/>
                </a:solidFill>
                <a:latin typeface="Montserrat"/>
              </a:rPr>
              <a:t>Generate query embedding via local Ollama container</a:t>
            </a:r>
          </a:p>
          <a:p>
            <a:pPr marL="171450" indent="-171450">
              <a:lnSpc>
                <a:spcPct val="110000"/>
              </a:lnSpc>
              <a:spcBef>
                <a:spcPts val="12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50" b="1" dirty="0">
                <a:solidFill>
                  <a:srgbClr val="3D3D3D"/>
                </a:solidFill>
                <a:latin typeface="Montserrat"/>
              </a:rPr>
              <a:t>Query PostgreSQL catalog database using pgvector cosine distance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endParaRPr lang="en-US" sz="750" b="0" dirty="0">
              <a:solidFill>
                <a:srgbClr val="3D3D3D"/>
              </a:solidFill>
              <a:latin typeface="Montserrat"/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lang="en-US" sz="800" b="1" dirty="0">
                <a:solidFill>
                  <a:srgbClr val="7030A0"/>
                </a:solidFill>
                <a:latin typeface="Montserrat"/>
              </a:rPr>
              <a:t>Step 2 — Intent Execution</a:t>
            </a:r>
          </a:p>
          <a:p>
            <a:pPr marL="171450" indent="-171450">
              <a:lnSpc>
                <a:spcPct val="110000"/>
              </a:lnSpc>
              <a:spcBef>
                <a:spcPts val="12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50" b="1" dirty="0">
                <a:solidFill>
                  <a:srgbClr val="3D3D3D"/>
                </a:solidFill>
                <a:latin typeface="Montserrat"/>
              </a:rPr>
              <a:t>Gateway resolves tool calls (e.g., SearchCatalog, AddToCart)</a:t>
            </a:r>
          </a:p>
          <a:p>
            <a:pPr marL="171450" indent="-171450">
              <a:lnSpc>
                <a:spcPct val="110000"/>
              </a:lnSpc>
              <a:spcBef>
                <a:spcPts val="12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50" b="1" dirty="0">
                <a:solidFill>
                  <a:srgbClr val="3D3D3D"/>
                </a:solidFill>
                <a:latin typeface="Montserrat"/>
              </a:rPr>
              <a:t>Execute gRPC cart operations against Basket.API service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endParaRPr lang="en-US" sz="750" b="0" dirty="0">
              <a:solidFill>
                <a:srgbClr val="3D3D3D"/>
              </a:solidFill>
              <a:latin typeface="Montserrat"/>
            </a:endParaRP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lang="en-US" sz="800" b="1" dirty="0">
                <a:solidFill>
                  <a:srgbClr val="7030A0"/>
                </a:solidFill>
                <a:latin typeface="Montserrat"/>
              </a:rPr>
              <a:t>Step 3 — UI Rendering</a:t>
            </a:r>
          </a:p>
          <a:p>
            <a:pPr marL="171450" indent="-171450">
              <a:lnSpc>
                <a:spcPct val="110000"/>
              </a:lnSpc>
              <a:spcBef>
                <a:spcPts val="12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50" b="1" dirty="0">
                <a:solidFill>
                  <a:srgbClr val="3D3D3D"/>
                </a:solidFill>
                <a:latin typeface="Montserrat"/>
              </a:rPr>
              <a:t>Format LLM output using structured markdown links &amp; buttons</a:t>
            </a:r>
          </a:p>
          <a:p>
            <a:pPr marL="171450" indent="-171450">
              <a:lnSpc>
                <a:spcPct val="110000"/>
              </a:lnSpc>
              <a:spcBef>
                <a:spcPts val="12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50" b="1" dirty="0">
                <a:solidFill>
                  <a:srgbClr val="3D3D3D"/>
                </a:solidFill>
                <a:latin typeface="Montserrat"/>
              </a:rPr>
              <a:t>Blazor MessageProcessor parses markdown into interactive HTML</a:t>
            </a:r>
          </a:p>
          <a:p>
            <a:pPr marL="171450" indent="-171450">
              <a:lnSpc>
                <a:spcPct val="110000"/>
              </a:lnSpc>
              <a:spcBef>
                <a:spcPts val="12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50" b="1" dirty="0">
                <a:solidFill>
                  <a:srgbClr val="3D3D3D"/>
                </a:solidFill>
                <a:latin typeface="Montserrat"/>
              </a:rPr>
              <a:t>Apply eShop design system styles for seamless circuit integration</a:t>
            </a:r>
          </a:p>
        </p:txBody>
      </p:sp>
      <p:sp>
        <p:nvSpPr>
          <p:cNvPr id="520" name="Arrow 520"/>
          <p:cNvSpPr/>
          <p:nvPr/>
        </p:nvSpPr>
        <p:spPr>
          <a:xfrm>
            <a:off x="6096000" y="2235200"/>
            <a:ext cx="279400" cy="2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1" name="ColC Header"/>
          <p:cNvSpPr/>
          <p:nvPr/>
        </p:nvSpPr>
        <p:spPr>
          <a:xfrm>
            <a:off x="6438900" y="736600"/>
            <a:ext cx="2413000" cy="1778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2" name="ColC Header Text"/>
          <p:cNvSpPr txBox="1"/>
          <p:nvPr/>
        </p:nvSpPr>
        <p:spPr>
          <a:xfrm>
            <a:off x="6438900" y="736600"/>
            <a:ext cx="2413000" cy="177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lang="en-US" sz="700" b="1">
                <a:solidFill>
                  <a:srgbClr val="FFFFFF"/>
                </a:solidFill>
                <a:latin typeface="Montserrat"/>
              </a:rPr>
              <a:t>Rich Interactive UI</a:t>
            </a:r>
          </a:p>
        </p:txBody>
      </p:sp>
      <p:sp>
        <p:nvSpPr>
          <p:cNvPr id="523" name="ColC Box"/>
          <p:cNvSpPr/>
          <p:nvPr/>
        </p:nvSpPr>
        <p:spPr>
          <a:xfrm>
            <a:off x="6438900" y="914400"/>
            <a:ext cx="2413000" cy="3149600"/>
          </a:xfrm>
          <a:prstGeom prst="rect">
            <a:avLst/>
          </a:prstGeom>
          <a:solidFill>
            <a:srgbClr val="FFF5EB"/>
          </a:solidFill>
          <a:ln w="12700">
            <a:solidFill>
              <a:srgbClr val="DD6B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4" name="ColC Content"/>
          <p:cNvSpPr txBox="1"/>
          <p:nvPr/>
        </p:nvSpPr>
        <p:spPr>
          <a:xfrm>
            <a:off x="6477000" y="965200"/>
            <a:ext cx="2336800" cy="3048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0000"/>
              </a:lnSpc>
              <a:spcBef>
                <a:spcPts val="80"/>
              </a:spcBef>
            </a:pPr>
            <a:r>
              <a:rPr lang="en-US" sz="800" b="1" dirty="0">
                <a:solidFill>
                  <a:srgbClr val="DD6B20"/>
                </a:solidFill>
                <a:latin typeface="Montserrat"/>
              </a:rPr>
              <a:t>Rich Interactive UI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DD6B20"/>
              </a:buClr>
              <a:buFont typeface="Arial"/>
              <a:buChar char="●"/>
            </a:pPr>
            <a:r>
              <a:rPr lang="en-US" sz="770" b="1" dirty="0">
                <a:solidFill>
                  <a:srgbClr val="3D3D3D"/>
                </a:solidFill>
                <a:latin typeface="Montserrat"/>
              </a:rPr>
              <a:t>Clickable product links for immediate catalog navigation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DD6B20"/>
              </a:buClr>
              <a:buFont typeface="Arial"/>
              <a:buChar char="●"/>
            </a:pPr>
            <a:r>
              <a:rPr lang="en-US" sz="770" b="1" dirty="0">
                <a:solidFill>
                  <a:srgbClr val="3D3D3D"/>
                </a:solidFill>
                <a:latin typeface="Montserrat"/>
              </a:rPr>
              <a:t>Interactive Add-to-Cart buttons embedded in chat bubbles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DD6B20"/>
              </a:buClr>
              <a:buFont typeface="Arial"/>
              <a:buChar char="●"/>
            </a:pPr>
            <a:r>
              <a:rPr lang="en-US" sz="770" b="1" dirty="0">
                <a:solidFill>
                  <a:srgbClr val="3D3D3D"/>
                </a:solidFill>
                <a:latin typeface="Montserrat"/>
              </a:rPr>
              <a:t>Real-time updates of header cart badge on item additions</a:t>
            </a:r>
          </a:p>
          <a:p>
            <a:pPr algn="l">
              <a:lnSpc>
                <a:spcPct val="110000"/>
              </a:lnSpc>
              <a:spcBef>
                <a:spcPts val="80"/>
              </a:spcBef>
            </a:pPr>
            <a:endParaRPr lang="en-US" sz="770" b="0" dirty="0">
              <a:solidFill>
                <a:srgbClr val="3D3D3D"/>
              </a:solidFill>
              <a:latin typeface="Montserrat"/>
            </a:endParaRPr>
          </a:p>
          <a:p>
            <a:pPr algn="l">
              <a:lnSpc>
                <a:spcPct val="110000"/>
              </a:lnSpc>
              <a:spcBef>
                <a:spcPts val="80"/>
              </a:spcBef>
            </a:pPr>
            <a:r>
              <a:rPr lang="en-US" sz="800" b="1" dirty="0">
                <a:solidFill>
                  <a:srgbClr val="DD6B20"/>
                </a:solidFill>
                <a:latin typeface="Montserrat"/>
              </a:rPr>
              <a:t>Alerts &amp; Notifications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DD6B20"/>
              </a:buClr>
              <a:buFont typeface="Arial"/>
              <a:buChar char="●"/>
            </a:pPr>
            <a:r>
              <a:rPr lang="en-US" sz="770" b="1" dirty="0">
                <a:solidFill>
                  <a:srgbClr val="3D3D3D"/>
                </a:solidFill>
                <a:latin typeface="Montserrat"/>
              </a:rPr>
              <a:t>Friendly error messages on external LLM service timeouts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DD6B20"/>
              </a:buClr>
              <a:buFont typeface="Arial"/>
              <a:buChar char="●"/>
            </a:pPr>
            <a:r>
              <a:rPr lang="en-US" sz="770" b="1" dirty="0">
                <a:solidFill>
                  <a:srgbClr val="3D3D3D"/>
                </a:solidFill>
                <a:latin typeface="Montserrat"/>
              </a:rPr>
              <a:t>Local ConcurrentDictionary alerts in development mode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DD6B20"/>
              </a:buClr>
              <a:buFont typeface="Arial"/>
              <a:buChar char="●"/>
            </a:pPr>
            <a:r>
              <a:rPr lang="en-US" sz="770" b="1" dirty="0">
                <a:solidFill>
                  <a:srgbClr val="3D3D3D"/>
                </a:solidFill>
                <a:latin typeface="Montserrat"/>
              </a:rPr>
              <a:t>Rate limit warning flags when LLM RPM/TPM bounds are hit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DD6B20"/>
              </a:buClr>
              <a:buFont typeface="Arial"/>
              <a:buChar char="●"/>
            </a:pPr>
            <a:r>
              <a:rPr lang="en-US" sz="770" b="1" dirty="0">
                <a:solidFill>
                  <a:srgbClr val="3D3D3D"/>
                </a:solidFill>
                <a:latin typeface="Montserrat"/>
              </a:rPr>
              <a:t>Checkout reminder prompts for abandoned shopping carts</a:t>
            </a:r>
          </a:p>
        </p:txBody>
      </p:sp>
      <p:sp>
        <p:nvSpPr>
          <p:cNvPr id="530" name="ScopeBG"/>
          <p:cNvSpPr/>
          <p:nvPr/>
        </p:nvSpPr>
        <p:spPr>
          <a:xfrm>
            <a:off x="266700" y="4140200"/>
            <a:ext cx="8585200" cy="85930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1" name="ScopeContent"/>
          <p:cNvSpPr txBox="1"/>
          <p:nvPr/>
        </p:nvSpPr>
        <p:spPr>
          <a:xfrm>
            <a:off x="304800" y="4165600"/>
            <a:ext cx="8509000" cy="8339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0000"/>
              </a:lnSpc>
              <a:spcBef>
                <a:spcPts val="80"/>
              </a:spcBef>
            </a:pPr>
            <a:r>
              <a:rPr lang="en-US" sz="900" b="1">
                <a:solidFill>
                  <a:srgbClr val="0B5394"/>
                </a:solidFill>
                <a:latin typeface="Montserrat"/>
              </a:rPr>
              <a:t>AI Roadmap &amp; Scope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1155CC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Phase 1 (Chatbot MVP): Chatbot UI, semantic search API, gRPC integration, local session fallback.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38A169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Phase 2 (Portfolio &amp; Polls): Event-driven newsfeed polls, Smart Cards, multilingual support.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buClr>
                <a:srgbClr val="7030A0"/>
              </a:buClr>
              <a:buFont typeface="Arial"/>
              <a:buChar char="●"/>
            </a:pPr>
            <a:r>
              <a:rPr lang="en-US" sz="770" b="1">
                <a:solidFill>
                  <a:srgbClr val="3D3D3D"/>
                </a:solidFill>
                <a:latin typeface="Montserrat"/>
              </a:rPr>
              <a:t>Phase 3 (AI Expansion): AI-powered checkouts, dynamic charts, personalized product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4223957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395;p31"/>
          <p:cNvGrpSpPr/>
          <p:nvPr/>
        </p:nvGrpSpPr>
        <p:grpSpPr>
          <a:xfrm>
            <a:off x="1257480" y="4905720"/>
            <a:ext cx="237240" cy="237240"/>
            <a:chOff x="1257480" y="4905720"/>
            <a:chExt cx="237240" cy="237240"/>
          </a:xfrm>
        </p:grpSpPr>
        <p:sp>
          <p:nvSpPr>
            <p:cNvPr id="567" name="Google Shape;396;p31"/>
            <p:cNvSpPr/>
            <p:nvPr/>
          </p:nvSpPr>
          <p:spPr>
            <a:xfrm>
              <a:off x="1257480" y="4905720"/>
              <a:ext cx="237240" cy="237240"/>
            </a:xfrm>
            <a:prstGeom prst="rect">
              <a:avLst/>
            </a:prstGeom>
            <a:solidFill>
              <a:srgbClr val="BC222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68" name="Google Shape;397;p31"/>
            <p:cNvSpPr/>
            <p:nvPr/>
          </p:nvSpPr>
          <p:spPr>
            <a:xfrm rot="13500000">
              <a:off x="1328400" y="4947840"/>
              <a:ext cx="95400" cy="95400"/>
            </a:xfrm>
            <a:prstGeom prst="halfFrame">
              <a:avLst>
                <a:gd name="adj1" fmla="val 33333"/>
                <a:gd name="adj2" fmla="val 33333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350" b="0" strike="noStrike" spc="-1">
                <a:solidFill>
                  <a:schemeClr val="dk1"/>
                </a:solidFill>
                <a:latin typeface="Montserrat"/>
              </a:endParaRPr>
            </a:p>
          </p:txBody>
        </p:sp>
      </p:grpSp>
      <p:pic>
        <p:nvPicPr>
          <p:cNvPr id="569" name="Picture 1" descr="A red background with many squares&#10;&#10;Description automatically generated"/>
          <p:cNvPicPr/>
          <p:nvPr/>
        </p:nvPicPr>
        <p:blipFill>
          <a:blip r:embed="rId2"/>
          <a:stretch/>
        </p:blipFill>
        <p:spPr>
          <a:xfrm>
            <a:off x="4667400" y="937440"/>
            <a:ext cx="4476240" cy="3857400"/>
          </a:xfrm>
          <a:prstGeom prst="rect">
            <a:avLst/>
          </a:prstGeom>
          <a:ln w="0">
            <a:noFill/>
          </a:ln>
        </p:spPr>
      </p:pic>
      <p:sp>
        <p:nvSpPr>
          <p:cNvPr id="570" name="Google Shape;227;p1"/>
          <p:cNvSpPr/>
          <p:nvPr/>
        </p:nvSpPr>
        <p:spPr>
          <a:xfrm>
            <a:off x="571680" y="2339280"/>
            <a:ext cx="4095360" cy="3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90000"/>
              </a:lnSpc>
              <a:spcAft>
                <a:spcPts val="601"/>
              </a:spcAft>
            </a:pPr>
            <a:r>
              <a:rPr lang="en-US" sz="2800" b="1" strike="noStrike" spc="-1">
                <a:solidFill>
                  <a:srgbClr val="171717"/>
                </a:solidFill>
                <a:latin typeface="Montserrat ExtraBold"/>
              </a:rPr>
              <a:t>Appendix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5C7DC21B-BE15-4946-85ED-5D45E14D3085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4" name="Google Shape;1281;g28b50516830_0_785"/>
          <p:cNvGraphicFramePr/>
          <p:nvPr>
            <p:extLst>
              <p:ext uri="{D42A27DB-BD31-4B8C-83A1-F6EECF244321}">
                <p14:modId xmlns:p14="http://schemas.microsoft.com/office/powerpoint/2010/main" val="3599885021"/>
              </p:ext>
            </p:extLst>
          </p:nvPr>
        </p:nvGraphicFramePr>
        <p:xfrm>
          <a:off x="386640" y="736600"/>
          <a:ext cx="8413200" cy="3454400"/>
        </p:xfrm>
        <a:graphic>
          <a:graphicData uri="http://schemas.openxmlformats.org/drawingml/2006/table">
            <a:tbl>
              <a:tblPr/>
              <a:tblGrid>
                <a:gridCol w="1329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8938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strike="noStrike" spc="-1" dirty="0">
                          <a:solidFill>
                            <a:schemeClr val="lt1"/>
                          </a:solidFill>
                          <a:latin typeface="Montserrat"/>
                        </a:rPr>
                        <a:t>Activity</a:t>
                      </a:r>
                      <a:endParaRPr lang="en-US" sz="9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1" strike="noStrike" spc="-1">
                          <a:solidFill>
                            <a:schemeClr val="lt1"/>
                          </a:solidFill>
                          <a:latin typeface="Montserrat"/>
                        </a:rPr>
                        <a:t>Description</a:t>
                      </a:r>
                      <a:endParaRPr lang="en-US" sz="9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1" strike="noStrike" spc="-1">
                          <a:solidFill>
                            <a:schemeClr val="lt1"/>
                          </a:solidFill>
                          <a:latin typeface="Montserrat"/>
                        </a:rPr>
                        <a:t>Participant</a:t>
                      </a:r>
                      <a:endParaRPr lang="en-US" sz="9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1" strike="noStrike" spc="-1">
                          <a:solidFill>
                            <a:schemeClr val="lt1"/>
                          </a:solidFill>
                          <a:latin typeface="Montserrat"/>
                        </a:rPr>
                        <a:t>Frequency</a:t>
                      </a:r>
                      <a:endParaRPr lang="en-US" sz="9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1" strike="noStrike" spc="-1">
                          <a:solidFill>
                            <a:schemeClr val="lt1"/>
                          </a:solidFill>
                          <a:latin typeface="Montserrat"/>
                        </a:rPr>
                        <a:t>Channel</a:t>
                      </a:r>
                      <a:endParaRPr lang="en-US" sz="9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092"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90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Daily Standup</a:t>
                      </a:r>
                    </a:p>
                  </a:txBody>
                  <a:tcPr marL="91080" marR="91080"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Progress updates, blockers, and impediment resolution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Rikkeisoft dev team only ※3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85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Daily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Slack ※3</a:t>
                      </a:r>
                    </a:p>
                  </a:txBody>
                  <a:tcPr marL="91080" marR="91080"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092"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90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Weekly Sync</a:t>
                      </a:r>
                    </a:p>
                  </a:txBody>
                  <a:tcPr marL="91080" marR="91080"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Sprint progress, risks &amp; key decisions — 30 min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 dirty="0">
                          <a:solidFill>
                            <a:schemeClr val="dk1"/>
                          </a:solidFill>
                          <a:latin typeface="Montserrat"/>
                        </a:rPr>
                        <a:t>Huy (PM), Tech Lead, Delivery Manager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85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Weekly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Video call ※1</a:t>
                      </a:r>
                    </a:p>
                  </a:txBody>
                  <a:tcPr marL="91080" marR="91080"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092"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90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Bi-weekly Demo</a:t>
                      </a:r>
                    </a:p>
                  </a:txBody>
                  <a:tcPr marL="91080" marR="91080"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Working software demo &amp; feedback — 45 min, recorded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 dirty="0">
                          <a:solidFill>
                            <a:schemeClr val="dk1"/>
                          </a:solidFill>
                          <a:latin typeface="Montserrat"/>
                        </a:rPr>
                        <a:t>Dung (PM), </a:t>
                      </a:r>
                      <a:r>
                        <a:rPr lang="en-US" sz="850" b="0" strike="noStrike" spc="-1" dirty="0" err="1">
                          <a:solidFill>
                            <a:schemeClr val="dk1"/>
                          </a:solidFill>
                          <a:latin typeface="Montserrat"/>
                        </a:rPr>
                        <a:t>Boiz</a:t>
                      </a:r>
                      <a:r>
                        <a:rPr lang="en-US" sz="850" b="0" strike="noStrike" spc="-1" dirty="0">
                          <a:solidFill>
                            <a:schemeClr val="dk1"/>
                          </a:solidFill>
                          <a:latin typeface="Montserrat"/>
                        </a:rPr>
                        <a:t> (optional), ABC CTO (optional)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85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Bi-weekly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Video call + recorded ※1</a:t>
                      </a:r>
                    </a:p>
                  </a:txBody>
                  <a:tcPr marL="91080" marR="91080"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092"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90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Monthly Report</a:t>
                      </a:r>
                    </a:p>
                  </a:txBody>
                  <a:tcPr marL="91080" marR="91080"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Progress summary, metrics &amp; next month plan — async, no meeting required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All stakeholders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85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Monthly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Written report</a:t>
                      </a:r>
                    </a:p>
                  </a:txBody>
                  <a:tcPr marL="91080" marR="91080"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094"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90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Quarterly Review</a:t>
                      </a:r>
                    </a:p>
                  </a:txBody>
                  <a:tcPr marL="91080" marR="91080"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Phase completion review, roadmap &amp; next phase planning — 60 min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 dirty="0">
                          <a:solidFill>
                            <a:schemeClr val="dk1"/>
                          </a:solidFill>
                          <a:latin typeface="Montserrat"/>
                        </a:rPr>
                        <a:t>ABC CTO, Huy (PM), </a:t>
                      </a:r>
                      <a:r>
                        <a:rPr lang="en-US" sz="850" b="0" strike="noStrike" spc="-1" dirty="0" err="1">
                          <a:solidFill>
                            <a:schemeClr val="dk1"/>
                          </a:solidFill>
                          <a:latin typeface="Montserrat"/>
                        </a:rPr>
                        <a:t>Rikkeisoft</a:t>
                      </a:r>
                      <a:r>
                        <a:rPr lang="en-US" sz="850" b="0" strike="noStrike" spc="-1" dirty="0">
                          <a:solidFill>
                            <a:schemeClr val="dk1"/>
                          </a:solidFill>
                          <a:latin typeface="Montserrat"/>
                        </a:rPr>
                        <a:t> leadership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</a:pPr>
                      <a:r>
                        <a:rPr lang="en-US" sz="850" b="1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Quarterly</a:t>
                      </a: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0000"/>
                        </a:lnSpc>
                      </a:pPr>
                      <a:r>
                        <a:rPr lang="en-US" sz="850" b="0" strike="noStrike" spc="-1">
                          <a:solidFill>
                            <a:schemeClr val="dk1"/>
                          </a:solidFill>
                          <a:latin typeface="Montserrat"/>
                        </a:rPr>
                        <a:t>Video call ※1</a:t>
                      </a:r>
                    </a:p>
                  </a:txBody>
                  <a:tcPr marL="91080" marR="91080"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5" name="Google Shape;1282;g28b50516830_0_785"/>
          <p:cNvSpPr/>
          <p:nvPr/>
        </p:nvSpPr>
        <p:spPr>
          <a:xfrm>
            <a:off x="491760" y="4292600"/>
            <a:ext cx="2870640" cy="2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-US" sz="700" b="1" i="1" strike="noStrike" spc="-1">
                <a:solidFill>
                  <a:srgbClr val="BE2727"/>
                </a:solidFill>
                <a:latin typeface="Montserrat"/>
                <a:ea typeface="Montserrat"/>
              </a:rPr>
              <a:t>※1</a:t>
            </a:r>
            <a:r>
              <a:rPr lang="en-US" sz="700" b="1" i="1" strike="noStrike" spc="-1">
                <a:solidFill>
                  <a:srgbClr val="000000"/>
                </a:solidFill>
                <a:latin typeface="Montserrat"/>
                <a:ea typeface="Montserrat"/>
              </a:rPr>
              <a:t> Virtual meeting:</a:t>
            </a:r>
            <a:r>
              <a:rPr lang="en-US" sz="700" b="0" i="1" strike="noStrike" spc="-1">
                <a:solidFill>
                  <a:srgbClr val="000000"/>
                </a:solidFill>
                <a:latin typeface="Montserrat"/>
                <a:ea typeface="Montserrat"/>
              </a:rPr>
              <a:t> MS Teams / Google Meet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Google Shape;1283;g28b50516830_0_785"/>
          <p:cNvSpPr/>
          <p:nvPr/>
        </p:nvSpPr>
        <p:spPr>
          <a:xfrm>
            <a:off x="558800" y="4496880"/>
            <a:ext cx="838200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" sz="700" b="1" i="1" strike="noStrike" spc="-1">
                <a:solidFill>
                  <a:srgbClr val="BE2727"/>
                </a:solidFill>
                <a:latin typeface="Montserrat"/>
              </a:rPr>
              <a:t>※2</a:t>
            </a:r>
            <a:r>
              <a:rPr lang="en" sz="700" b="1" i="1" strike="noStrike" spc="-1">
                <a:solidFill>
                  <a:srgbClr val="000000"/>
                </a:solidFill>
                <a:latin typeface="Montserrat"/>
              </a:rPr>
              <a:t> Escalation path: </a:t>
            </a:r>
            <a:r>
              <a:rPr lang="en" sz="700" b="0" i="1" strike="noStrike" spc="-1">
                <a:solidFill>
                  <a:srgbClr val="000000"/>
                </a:solidFill>
                <a:latin typeface="Montserrat"/>
              </a:rPr>
              <a:t>Level 1 (1 business day) → Level 2 (2 business days) → Level 3 (1 week). See Risk Management slide for full escalation matrix.</a:t>
            </a:r>
          </a:p>
        </p:txBody>
      </p:sp>
      <p:sp>
        <p:nvSpPr>
          <p:cNvPr id="577" name="Google Shape;299;p25"/>
          <p:cNvSpPr/>
          <p:nvPr/>
        </p:nvSpPr>
        <p:spPr>
          <a:xfrm>
            <a:off x="3293280" y="138600"/>
            <a:ext cx="55069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Montserrat"/>
              </a:rPr>
              <a:t>Communication Plan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54B42B79-0522-4A0E-A174-F8B152AF5202}" type="slidenum">
              <a:rPr/>
              <a:t>16</a:t>
            </a:fld>
            <a:endParaRPr/>
          </a:p>
        </p:txBody>
      </p:sp>
      <p:sp>
        <p:nvSpPr>
          <p:cNvPr id="580" name="Footnote3"/>
          <p:cNvSpPr txBox="1">
            <a:spLocks noGrp="1"/>
          </p:cNvSpPr>
          <p:nvPr/>
        </p:nvSpPr>
        <p:spPr>
          <a:xfrm>
            <a:off x="558800" y="4737100"/>
            <a:ext cx="838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defTabSz="685800">
              <a:lnSpc>
                <a:spcPct val="100000"/>
              </a:lnSpc>
            </a:pPr>
            <a:r>
              <a:rPr lang="en-US" sz="700" b="1" i="1" strike="noStrike" spc="-1" dirty="0">
                <a:solidFill>
                  <a:srgbClr val="BE2727"/>
                </a:solidFill>
                <a:latin typeface="Montserrat"/>
              </a:rPr>
              <a:t>※3</a:t>
            </a:r>
            <a:r>
              <a:rPr lang="en-US" sz="700" b="1" i="1" strike="noStrike" spc="-1" dirty="0">
                <a:solidFill>
                  <a:srgbClr val="000000"/>
                </a:solidFill>
                <a:latin typeface="Montserrat"/>
              </a:rPr>
              <a:t> Daily Standup:</a:t>
            </a:r>
            <a:r>
              <a:rPr lang="en-US" sz="700" b="0" i="1" strike="noStrike" spc="-1" dirty="0">
                <a:solidFill>
                  <a:srgbClr val="000000"/>
                </a:solidFill>
                <a:latin typeface="Montserrat"/>
              </a:rPr>
              <a:t> Managed entirely by </a:t>
            </a:r>
            <a:r>
              <a:rPr lang="en-US" sz="700" b="0" i="1" strike="noStrike" spc="-1" dirty="0" err="1">
                <a:solidFill>
                  <a:srgbClr val="000000"/>
                </a:solidFill>
                <a:latin typeface="Montserrat"/>
              </a:rPr>
              <a:t>Rikkeisoft</a:t>
            </a:r>
            <a:r>
              <a:rPr lang="en-US" sz="700" b="0" i="1" strike="noStrike" spc="-1" dirty="0">
                <a:solidFill>
                  <a:srgbClr val="000000"/>
                </a:solidFill>
                <a:latin typeface="Montserrat"/>
              </a:rPr>
              <a:t>. Interaction with ABC via Huy (PM) on Slack only — C-Level leadership is never required to attend.</a:t>
            </a:r>
          </a:p>
        </p:txBody>
      </p:sp>
    </p:spTree>
    <p:extLst>
      <p:ext uri="{BB962C8B-B14F-4D97-AF65-F5344CB8AC3E}">
        <p14:creationId xmlns:p14="http://schemas.microsoft.com/office/powerpoint/2010/main" val="786243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8" name="Google Shape;1289;g28b50516830_0_792"/>
          <p:cNvGraphicFramePr/>
          <p:nvPr>
            <p:extLst>
              <p:ext uri="{D42A27DB-BD31-4B8C-83A1-F6EECF244321}">
                <p14:modId xmlns:p14="http://schemas.microsoft.com/office/powerpoint/2010/main" val="1757587595"/>
              </p:ext>
            </p:extLst>
          </p:nvPr>
        </p:nvGraphicFramePr>
        <p:xfrm>
          <a:off x="478440" y="822239"/>
          <a:ext cx="8093520" cy="3275626"/>
        </p:xfrm>
        <a:graphic>
          <a:graphicData uri="http://schemas.openxmlformats.org/drawingml/2006/table">
            <a:tbl>
              <a:tblPr/>
              <a:tblGrid>
                <a:gridCol w="197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271"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 dirty="0">
                          <a:solidFill>
                            <a:srgbClr val="FAFAFA"/>
                          </a:solidFill>
                          <a:latin typeface="Montserrat"/>
                        </a:rPr>
                        <a:t>Activity</a:t>
                      </a:r>
                      <a:endParaRPr lang="en-US" sz="9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FAFAFA"/>
                          </a:solidFill>
                          <a:latin typeface="Montserrat"/>
                        </a:rPr>
                        <a:t>Description</a:t>
                      </a:r>
                      <a:endParaRPr lang="en-US" sz="9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FAFAFA"/>
                          </a:solidFill>
                          <a:latin typeface="Montserrat"/>
                        </a:rPr>
                        <a:t>Tool/Method</a:t>
                      </a:r>
                      <a:endParaRPr lang="en-US" sz="9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080" marR="91080" anchor="ctr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 w="12240">
                      <a:solidFill>
                        <a:srgbClr val="A61C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A61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217"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Document management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Control documents send and receive between ABC</a:t>
                      </a:r>
                      <a:r>
                        <a:rPr lang="en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 </a:t>
                      </a:r>
                      <a:r>
                        <a:rPr lang="en-US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and </a:t>
                      </a:r>
                      <a:r>
                        <a:rPr lang="en-US" sz="900" b="0" strike="noStrike" spc="-1" dirty="0" err="1">
                          <a:solidFill>
                            <a:srgbClr val="171717"/>
                          </a:solidFill>
                          <a:latin typeface="Montserrat"/>
                        </a:rPr>
                        <a:t>RKTech</a:t>
                      </a:r>
                      <a:r>
                        <a:rPr lang="en-US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 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OneDrive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SVN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217"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Source code Management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Facilitate version control, and code tracking for teams, ensuring efficient software development workflows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ADO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Bitbucket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Github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98"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Question and Answer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Management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Manage the questions from ABC and </a:t>
                      </a:r>
                      <a:r>
                        <a:rPr lang="en-US" sz="900" b="0" strike="noStrike" spc="-1" dirty="0" err="1">
                          <a:solidFill>
                            <a:srgbClr val="171717"/>
                          </a:solidFill>
                          <a:latin typeface="Montserrat"/>
                        </a:rPr>
                        <a:t>RKTech</a:t>
                      </a:r>
                      <a:r>
                        <a:rPr lang="en-US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 while doing the project 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365 Sheet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98"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Task (User Story, Task, Bug) Management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Assign and control tasks of members, Bugs/Issues of project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Jira, ADO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Change Requirement Management 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A61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171717"/>
                          </a:solidFill>
                          <a:latin typeface="Montserrat"/>
                        </a:rPr>
                        <a:t>Log and control any change requirements of the project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365 Sheet,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 dirty="0">
                          <a:solidFill>
                            <a:srgbClr val="171717"/>
                          </a:solidFill>
                          <a:latin typeface="Montserrat"/>
                        </a:rPr>
                        <a:t>Jira, ADO</a:t>
                      </a:r>
                      <a:endParaRPr lang="en-US" sz="9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 w="12240">
                      <a:solidFill>
                        <a:srgbClr val="A61C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A61C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79" name="Google Shape;1290;g28b50516830_0_792"/>
          <p:cNvPicPr/>
          <p:nvPr/>
        </p:nvPicPr>
        <p:blipFill>
          <a:blip r:embed="rId2"/>
          <a:stretch/>
        </p:blipFill>
        <p:spPr>
          <a:xfrm>
            <a:off x="7563240" y="1219320"/>
            <a:ext cx="638640" cy="442080"/>
          </a:xfrm>
          <a:prstGeom prst="rect">
            <a:avLst/>
          </a:prstGeom>
          <a:ln w="0">
            <a:noFill/>
          </a:ln>
        </p:spPr>
      </p:pic>
      <p:pic>
        <p:nvPicPr>
          <p:cNvPr id="580" name="Google Shape;1293;g28b50516830_0_792"/>
          <p:cNvPicPr/>
          <p:nvPr/>
        </p:nvPicPr>
        <p:blipFill>
          <a:blip r:embed="rId3"/>
          <a:stretch/>
        </p:blipFill>
        <p:spPr>
          <a:xfrm>
            <a:off x="6957720" y="1262880"/>
            <a:ext cx="505800" cy="331560"/>
          </a:xfrm>
          <a:prstGeom prst="rect">
            <a:avLst/>
          </a:prstGeom>
          <a:ln w="0">
            <a:noFill/>
          </a:ln>
        </p:spPr>
      </p:pic>
      <p:pic>
        <p:nvPicPr>
          <p:cNvPr id="581" name="Google Shape;1294;g28b50516830_0_792"/>
          <p:cNvPicPr/>
          <p:nvPr/>
        </p:nvPicPr>
        <p:blipFill>
          <a:blip r:embed="rId4"/>
          <a:stretch/>
        </p:blipFill>
        <p:spPr>
          <a:xfrm>
            <a:off x="6443280" y="1251360"/>
            <a:ext cx="373680" cy="394200"/>
          </a:xfrm>
          <a:prstGeom prst="rect">
            <a:avLst/>
          </a:prstGeom>
          <a:ln w="0">
            <a:noFill/>
          </a:ln>
        </p:spPr>
      </p:pic>
      <p:pic>
        <p:nvPicPr>
          <p:cNvPr id="582" name="Google Shape;1295;g28b50516830_0_792"/>
          <p:cNvPicPr/>
          <p:nvPr/>
        </p:nvPicPr>
        <p:blipFill>
          <a:blip r:embed="rId4"/>
          <a:stretch/>
        </p:blipFill>
        <p:spPr>
          <a:xfrm>
            <a:off x="6443280" y="3570480"/>
            <a:ext cx="373680" cy="394200"/>
          </a:xfrm>
          <a:prstGeom prst="rect">
            <a:avLst/>
          </a:prstGeom>
          <a:ln w="0">
            <a:noFill/>
          </a:ln>
        </p:spPr>
      </p:pic>
      <p:pic>
        <p:nvPicPr>
          <p:cNvPr id="583" name="Picture 1" descr="File:Jira Logo.svg - Wikipedia"/>
          <p:cNvPicPr/>
          <p:nvPr/>
        </p:nvPicPr>
        <p:blipFill>
          <a:blip r:embed="rId5"/>
          <a:stretch/>
        </p:blipFill>
        <p:spPr>
          <a:xfrm>
            <a:off x="6902640" y="3077280"/>
            <a:ext cx="618840" cy="256680"/>
          </a:xfrm>
          <a:prstGeom prst="rect">
            <a:avLst/>
          </a:prstGeom>
          <a:ln w="0">
            <a:noFill/>
          </a:ln>
        </p:spPr>
      </p:pic>
      <p:pic>
        <p:nvPicPr>
          <p:cNvPr id="584" name="Picture 4" descr="File:Jira Logo.svg - Wikipedia"/>
          <p:cNvPicPr/>
          <p:nvPr/>
        </p:nvPicPr>
        <p:blipFill>
          <a:blip r:embed="rId5"/>
          <a:stretch/>
        </p:blipFill>
        <p:spPr>
          <a:xfrm>
            <a:off x="6973200" y="3644640"/>
            <a:ext cx="590040" cy="247320"/>
          </a:xfrm>
          <a:prstGeom prst="rect">
            <a:avLst/>
          </a:prstGeom>
          <a:ln w="0">
            <a:noFill/>
          </a:ln>
        </p:spPr>
      </p:pic>
      <p:pic>
        <p:nvPicPr>
          <p:cNvPr id="585" name="Google Shape;1294;g28b50516830_0_792"/>
          <p:cNvPicPr/>
          <p:nvPr/>
        </p:nvPicPr>
        <p:blipFill>
          <a:blip r:embed="rId4"/>
          <a:stretch/>
        </p:blipFill>
        <p:spPr>
          <a:xfrm>
            <a:off x="6407640" y="2998800"/>
            <a:ext cx="373680" cy="394200"/>
          </a:xfrm>
          <a:prstGeom prst="rect">
            <a:avLst/>
          </a:prstGeom>
          <a:ln w="0">
            <a:noFill/>
          </a:ln>
        </p:spPr>
      </p:pic>
      <p:pic>
        <p:nvPicPr>
          <p:cNvPr id="586" name="Google Shape;1294;g28b50516830_0_792"/>
          <p:cNvPicPr/>
          <p:nvPr/>
        </p:nvPicPr>
        <p:blipFill>
          <a:blip r:embed="rId4"/>
          <a:stretch/>
        </p:blipFill>
        <p:spPr>
          <a:xfrm>
            <a:off x="6407640" y="2440440"/>
            <a:ext cx="373680" cy="394200"/>
          </a:xfrm>
          <a:prstGeom prst="rect">
            <a:avLst/>
          </a:prstGeom>
          <a:ln w="0">
            <a:noFill/>
          </a:ln>
        </p:spPr>
      </p:pic>
      <p:pic>
        <p:nvPicPr>
          <p:cNvPr id="587" name="Picture 11" descr="Bitbucket Cloud | Slack App Directory"/>
          <p:cNvPicPr/>
          <p:nvPr/>
        </p:nvPicPr>
        <p:blipFill>
          <a:blip r:embed="rId6"/>
          <a:stretch/>
        </p:blipFill>
        <p:spPr>
          <a:xfrm>
            <a:off x="6405480" y="1828080"/>
            <a:ext cx="449280" cy="449280"/>
          </a:xfrm>
          <a:prstGeom prst="rect">
            <a:avLst/>
          </a:prstGeom>
          <a:ln w="0">
            <a:noFill/>
          </a:ln>
        </p:spPr>
      </p:pic>
      <p:pic>
        <p:nvPicPr>
          <p:cNvPr id="588" name="Picture 13" descr="GitHub · GitHub"/>
          <p:cNvPicPr/>
          <p:nvPr/>
        </p:nvPicPr>
        <p:blipFill>
          <a:blip r:embed="rId7"/>
          <a:stretch/>
        </p:blipFill>
        <p:spPr>
          <a:xfrm>
            <a:off x="7061400" y="1856880"/>
            <a:ext cx="411120" cy="403560"/>
          </a:xfrm>
          <a:prstGeom prst="rect">
            <a:avLst/>
          </a:prstGeom>
          <a:ln w="0">
            <a:noFill/>
          </a:ln>
        </p:spPr>
      </p:pic>
      <p:sp>
        <p:nvSpPr>
          <p:cNvPr id="589" name="Google Shape;299;p25"/>
          <p:cNvSpPr/>
          <p:nvPr/>
        </p:nvSpPr>
        <p:spPr>
          <a:xfrm>
            <a:off x="3066480" y="142920"/>
            <a:ext cx="55069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Montserrat"/>
              </a:rPr>
              <a:t>Project Management Tool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Box 9"/>
          <p:cNvSpPr/>
          <p:nvPr/>
        </p:nvSpPr>
        <p:spPr>
          <a:xfrm>
            <a:off x="4417560" y="4167360"/>
            <a:ext cx="4154400" cy="21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800" b="0" i="1" strike="noStrike" spc="-1">
                <a:solidFill>
                  <a:schemeClr val="dk1"/>
                </a:solidFill>
                <a:latin typeface="Montserrat"/>
              </a:rPr>
              <a:t>Commercial licenses are not included in the budget estimation.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1315B576-F9EC-490F-953A-3778730FAAE9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299;p25"/>
          <p:cNvSpPr/>
          <p:nvPr/>
        </p:nvSpPr>
        <p:spPr>
          <a:xfrm>
            <a:off x="3071160" y="142920"/>
            <a:ext cx="55069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Montserrat"/>
              </a:rPr>
              <a:t>Change Management Plan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2" name="Straight Arrow Connector 5"/>
          <p:cNvCxnSpPr/>
          <p:nvPr/>
        </p:nvCxnSpPr>
        <p:spPr>
          <a:xfrm flipV="1">
            <a:off x="355600" y="4438945"/>
            <a:ext cx="8407400" cy="23760"/>
          </a:xfrm>
          <a:prstGeom prst="straightConnector1">
            <a:avLst/>
          </a:prstGeom>
          <a:ln w="9525">
            <a:solidFill>
              <a:srgbClr val="BC2228"/>
            </a:solidFill>
            <a:headEnd type="triangle" w="med" len="med"/>
            <a:tailEnd type="triangle" w="med" len="med"/>
          </a:ln>
        </p:spPr>
      </p:cxnSp>
      <p:sp>
        <p:nvSpPr>
          <p:cNvPr id="593" name="TextBox 7"/>
          <p:cNvSpPr/>
          <p:nvPr/>
        </p:nvSpPr>
        <p:spPr>
          <a:xfrm>
            <a:off x="355600" y="4527847"/>
            <a:ext cx="8382000" cy="350913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45720" tIns="45720" rIns="45720" bIns="45720" anchor="t" anchorCtr="0">
            <a:normAutofit/>
          </a:bodyPr>
          <a:lstStyle/>
          <a:p>
            <a:pPr defTabSz="685800">
              <a:lnSpc>
                <a:spcPct val="100000"/>
              </a:lnSpc>
            </a:pPr>
            <a:r>
              <a:rPr lang="en-US" sz="750" b="1">
                <a:solidFill>
                  <a:srgbClr val="BC2228"/>
                </a:solidFill>
                <a:latin typeface="Montserrat"/>
              </a:rPr>
              <a:t>※  </a:t>
            </a:r>
            <a:r>
              <a:rPr lang="en-US" sz="750" b="1">
                <a:solidFill>
                  <a:srgbClr val="171717"/>
                </a:solidFill>
                <a:latin typeface="Montserrat"/>
              </a:rPr>
              <a:t>Change requests are assessed within 2 business days. </a:t>
            </a:r>
            <a:r>
              <a:rPr lang="en-US" sz="750" b="0">
                <a:solidFill>
                  <a:srgbClr val="171717"/>
                </a:solidFill>
                <a:latin typeface="Montserrat"/>
              </a:rPr>
              <a:t>Approved changes are scoped and documented before inclusion in the sprint backlog. Each phase begins only after mutual sign-off — scope changes mid-phase require a formal change request and may adjust the timeline and/or phase gate date.</a:t>
            </a:r>
          </a:p>
        </p:txBody>
      </p:sp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DD5B69E1-2D78-4596-8AE0-8A486F39C3EB}" type="slidenum">
              <a:rPr/>
              <a:t>18</a:t>
            </a:fld>
            <a:endParaRPr/>
          </a:p>
        </p:txBody>
      </p:sp>
      <p:sp>
        <p:nvSpPr>
          <p:cNvPr id="600" name="Row1 BG"/>
          <p:cNvSpPr/>
          <p:nvPr/>
        </p:nvSpPr>
        <p:spPr>
          <a:xfrm>
            <a:off x="355600" y="660400"/>
            <a:ext cx="8407400" cy="1117600"/>
          </a:xfrm>
          <a:prstGeom prst="rect">
            <a:avLst/>
          </a:prstGeom>
          <a:solidFill>
            <a:srgbClr val="EBF3FF"/>
          </a:solidFill>
          <a:ln w="12700">
            <a:solidFill>
              <a:srgbClr val="B8D0F0"/>
            </a:solidFill>
          </a:ln>
        </p:spPr>
        <p:txBody>
          <a:bodyPr wrap="square" lIns="45720" tIns="45720" rIns="45720" bIns="45720" anchor="ctr"/>
          <a:lstStyle/>
          <a:p>
            <a:endParaRPr lang="en-US"/>
          </a:p>
        </p:txBody>
      </p:sp>
      <p:sp>
        <p:nvSpPr>
          <p:cNvPr id="601" name="Row2 BG"/>
          <p:cNvSpPr/>
          <p:nvPr/>
        </p:nvSpPr>
        <p:spPr>
          <a:xfrm>
            <a:off x="355600" y="1790700"/>
            <a:ext cx="8407400" cy="111760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C0"/>
            </a:solidFill>
          </a:ln>
        </p:spPr>
        <p:txBody>
          <a:bodyPr wrap="square" lIns="45720" tIns="45720" rIns="45720" bIns="45720" anchor="ctr"/>
          <a:lstStyle/>
          <a:p>
            <a:endParaRPr lang="en-US"/>
          </a:p>
        </p:txBody>
      </p:sp>
      <p:sp>
        <p:nvSpPr>
          <p:cNvPr id="602" name="Row3 BG"/>
          <p:cNvSpPr/>
          <p:nvPr/>
        </p:nvSpPr>
        <p:spPr>
          <a:xfrm>
            <a:off x="355600" y="2920999"/>
            <a:ext cx="8407400" cy="1390945"/>
          </a:xfrm>
          <a:prstGeom prst="rect">
            <a:avLst/>
          </a:prstGeom>
          <a:solidFill>
            <a:srgbClr val="FFF5EB"/>
          </a:solidFill>
          <a:ln w="12700">
            <a:solidFill>
              <a:srgbClr val="F0C080"/>
            </a:solidFill>
          </a:ln>
        </p:spPr>
        <p:txBody>
          <a:bodyPr wrap="square" lIns="45720" tIns="45720" rIns="45720" bIns="45720" anchor="ctr"/>
          <a:lstStyle/>
          <a:p>
            <a:endParaRPr lang="en-US"/>
          </a:p>
        </p:txBody>
      </p:sp>
      <p:sp>
        <p:nvSpPr>
          <p:cNvPr id="603" name="Label R1"/>
          <p:cNvSpPr/>
          <p:nvPr/>
        </p:nvSpPr>
        <p:spPr>
          <a:xfrm>
            <a:off x="355600" y="660400"/>
            <a:ext cx="914400" cy="1117600"/>
          </a:xfrm>
          <a:prstGeom prst="rect">
            <a:avLst/>
          </a:prstGeom>
          <a:solidFill>
            <a:srgbClr val="1155CC"/>
          </a:solidFill>
          <a:ln w="12700">
            <a:solidFill>
              <a:srgbClr val="0B5394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ontserrat"/>
              </a:rPr>
              <a:t>Requester</a:t>
            </a:r>
          </a:p>
          <a:p>
            <a:pPr algn="ctr">
              <a:lnSpc>
                <a:spcPct val="110000"/>
              </a:lnSpc>
            </a:pPr>
            <a:r>
              <a:rPr lang="en-US" sz="650" b="0" dirty="0">
                <a:solidFill>
                  <a:srgbClr val="D0E4FF"/>
                </a:solidFill>
                <a:latin typeface="Montserrat"/>
              </a:rPr>
              <a:t>(</a:t>
            </a:r>
            <a:r>
              <a:rPr lang="en-US" sz="650" b="0" dirty="0" err="1">
                <a:solidFill>
                  <a:srgbClr val="D0E4FF"/>
                </a:solidFill>
                <a:latin typeface="Montserrat"/>
              </a:rPr>
              <a:t>Boiz</a:t>
            </a:r>
            <a:r>
              <a:rPr lang="en-US" sz="650" b="0" dirty="0">
                <a:solidFill>
                  <a:srgbClr val="D0E4FF"/>
                </a:solidFill>
                <a:latin typeface="Montserrat"/>
              </a:rPr>
              <a:t> )</a:t>
            </a:r>
          </a:p>
        </p:txBody>
      </p:sp>
      <p:sp>
        <p:nvSpPr>
          <p:cNvPr id="604" name="Label R2"/>
          <p:cNvSpPr/>
          <p:nvPr/>
        </p:nvSpPr>
        <p:spPr>
          <a:xfrm>
            <a:off x="355600" y="1790700"/>
            <a:ext cx="914400" cy="1117600"/>
          </a:xfrm>
          <a:prstGeom prst="rect">
            <a:avLst/>
          </a:prstGeom>
          <a:solidFill>
            <a:srgbClr val="276749"/>
          </a:solidFill>
          <a:ln w="12700">
            <a:solidFill>
              <a:srgbClr val="1D4D35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50" b="1">
                <a:solidFill>
                  <a:srgbClr val="FFFFFF"/>
                </a:solidFill>
                <a:latin typeface="Montserrat"/>
              </a:rPr>
              <a:t>Delivery</a:t>
            </a:r>
          </a:p>
          <a:p>
            <a:pPr algn="ctr">
              <a:lnSpc>
                <a:spcPct val="110000"/>
              </a:lnSpc>
            </a:pPr>
            <a:r>
              <a:rPr lang="en-US" sz="650" b="0">
                <a:solidFill>
                  <a:srgbClr val="C6F6D5"/>
                </a:solidFill>
                <a:latin typeface="Montserrat"/>
              </a:rPr>
              <a:t>Manager</a:t>
            </a:r>
          </a:p>
        </p:txBody>
      </p:sp>
      <p:sp>
        <p:nvSpPr>
          <p:cNvPr id="605" name="Label R3"/>
          <p:cNvSpPr/>
          <p:nvPr/>
        </p:nvSpPr>
        <p:spPr>
          <a:xfrm>
            <a:off x="355600" y="2921000"/>
            <a:ext cx="914400" cy="1390944"/>
          </a:xfrm>
          <a:prstGeom prst="rect">
            <a:avLst/>
          </a:prstGeom>
          <a:solidFill>
            <a:srgbClr val="B7791F"/>
          </a:solidFill>
          <a:ln w="12700">
            <a:solidFill>
              <a:srgbClr val="975E17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50" b="1">
                <a:solidFill>
                  <a:srgbClr val="FFFFFF"/>
                </a:solidFill>
                <a:latin typeface="Montserrat"/>
              </a:rPr>
              <a:t>Tech Lead</a:t>
            </a:r>
          </a:p>
          <a:p>
            <a:pPr algn="ctr">
              <a:lnSpc>
                <a:spcPct val="110000"/>
              </a:lnSpc>
            </a:pPr>
            <a:r>
              <a:rPr lang="en-US" sz="650" b="0">
                <a:solidFill>
                  <a:srgbClr val="FEEBC8"/>
                </a:solidFill>
                <a:latin typeface="Montserrat"/>
              </a:rPr>
              <a:t>/ Outcome</a:t>
            </a:r>
          </a:p>
        </p:txBody>
      </p:sp>
      <p:sp>
        <p:nvSpPr>
          <p:cNvPr id="610" name="Step1 Box"/>
          <p:cNvSpPr/>
          <p:nvPr/>
        </p:nvSpPr>
        <p:spPr>
          <a:xfrm>
            <a:off x="1270000" y="787400"/>
            <a:ext cx="1270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55CC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00" b="1" dirty="0">
                <a:solidFill>
                  <a:srgbClr val="1155CC"/>
                </a:solidFill>
                <a:latin typeface="Montserrat"/>
              </a:rPr>
              <a:t>1. Change Request Raised</a:t>
            </a:r>
          </a:p>
          <a:p>
            <a:pPr algn="ctr">
              <a:lnSpc>
                <a:spcPct val="110000"/>
              </a:lnSpc>
            </a:pPr>
            <a:r>
              <a:rPr lang="en-US" sz="650" b="0" dirty="0" err="1">
                <a:solidFill>
                  <a:srgbClr val="333333"/>
                </a:solidFill>
                <a:latin typeface="Montserrat"/>
              </a:rPr>
              <a:t>Boiz</a:t>
            </a:r>
            <a:r>
              <a:rPr lang="en-US" sz="650" b="0" dirty="0">
                <a:solidFill>
                  <a:srgbClr val="333333"/>
                </a:solidFill>
                <a:latin typeface="Montserrat"/>
              </a:rPr>
              <a:t>  submits request via written Q&amp;A doc or weekly sync</a:t>
            </a:r>
          </a:p>
        </p:txBody>
      </p:sp>
      <p:sp>
        <p:nvSpPr>
          <p:cNvPr id="620" name="Line 620"/>
          <p:cNvSpPr>
            <a:spLocks noTextEdit="1"/>
          </p:cNvSpPr>
          <p:nvPr/>
        </p:nvSpPr>
        <p:spPr>
          <a:xfrm>
            <a:off x="2552699" y="1219200"/>
            <a:ext cx="753309" cy="0"/>
          </a:xfrm>
          <a:prstGeom prst="line">
            <a:avLst/>
          </a:prstGeom>
          <a:noFill/>
          <a:ln w="19050">
            <a:solidFill>
              <a:srgbClr val="1155CC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21" name="Line 621"/>
          <p:cNvSpPr>
            <a:spLocks noTextEdit="1"/>
          </p:cNvSpPr>
          <p:nvPr/>
        </p:nvSpPr>
        <p:spPr>
          <a:xfrm>
            <a:off x="3306009" y="1219200"/>
            <a:ext cx="0" cy="698500"/>
          </a:xfrm>
          <a:prstGeom prst="line">
            <a:avLst/>
          </a:prstGeom>
          <a:noFill/>
          <a:ln w="19050">
            <a:solidFill>
              <a:srgbClr val="276749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1" name="Step2 Box"/>
          <p:cNvSpPr/>
          <p:nvPr/>
        </p:nvSpPr>
        <p:spPr>
          <a:xfrm>
            <a:off x="2825750" y="1917700"/>
            <a:ext cx="1270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749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00" b="1" dirty="0">
                <a:solidFill>
                  <a:srgbClr val="276749"/>
                </a:solidFill>
                <a:latin typeface="Montserrat"/>
              </a:rPr>
              <a:t>2. Impact Assessment</a:t>
            </a:r>
          </a:p>
          <a:p>
            <a:pPr algn="ctr">
              <a:lnSpc>
                <a:spcPct val="110000"/>
              </a:lnSpc>
            </a:pPr>
            <a:r>
              <a:rPr lang="en-US" sz="650" b="0" dirty="0">
                <a:solidFill>
                  <a:srgbClr val="333333"/>
                </a:solidFill>
                <a:latin typeface="Montserrat"/>
              </a:rPr>
              <a:t>DM evaluates scope, timeline, and effort impact within 2 business days</a:t>
            </a:r>
          </a:p>
        </p:txBody>
      </p:sp>
      <p:sp>
        <p:nvSpPr>
          <p:cNvPr id="622" name="Line 622"/>
          <p:cNvSpPr>
            <a:spLocks noTextEdit="1"/>
          </p:cNvSpPr>
          <p:nvPr/>
        </p:nvSpPr>
        <p:spPr>
          <a:xfrm>
            <a:off x="4108450" y="2349500"/>
            <a:ext cx="260350" cy="0"/>
          </a:xfrm>
          <a:prstGeom prst="line">
            <a:avLst/>
          </a:prstGeom>
          <a:noFill/>
          <a:ln w="19050">
            <a:solidFill>
              <a:srgbClr val="276749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2" name="Step3 Diamond"/>
          <p:cNvSpPr/>
          <p:nvPr/>
        </p:nvSpPr>
        <p:spPr>
          <a:xfrm>
            <a:off x="4381500" y="1917700"/>
            <a:ext cx="1270000" cy="863600"/>
          </a:xfrm>
          <a:prstGeom prst="diamond">
            <a:avLst/>
          </a:prstGeom>
          <a:solidFill>
            <a:srgbClr val="FFF3CD"/>
          </a:solidFill>
          <a:ln w="12700">
            <a:solidFill>
              <a:srgbClr val="B7791F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00" b="1" dirty="0">
                <a:solidFill>
                  <a:srgbClr val="7B4F00"/>
                </a:solidFill>
                <a:latin typeface="Montserrat"/>
              </a:rPr>
              <a:t>3. Approved?</a:t>
            </a:r>
          </a:p>
          <a:p>
            <a:pPr algn="ctr">
              <a:lnSpc>
                <a:spcPct val="110000"/>
              </a:lnSpc>
            </a:pPr>
            <a:r>
              <a:rPr lang="en-US" sz="650" b="0" dirty="0">
                <a:solidFill>
                  <a:srgbClr val="555555"/>
                </a:solidFill>
                <a:latin typeface="Montserrat"/>
              </a:rPr>
              <a:t>DM + Tech Lead review → </a:t>
            </a:r>
            <a:r>
              <a:rPr lang="en-US" sz="650" dirty="0" err="1">
                <a:solidFill>
                  <a:srgbClr val="555555"/>
                </a:solidFill>
                <a:latin typeface="Montserrat"/>
              </a:rPr>
              <a:t>Boiz</a:t>
            </a:r>
            <a:r>
              <a:rPr lang="en-US" sz="650" b="0" dirty="0">
                <a:solidFill>
                  <a:srgbClr val="555555"/>
                </a:solidFill>
                <a:latin typeface="Montserrat"/>
              </a:rPr>
              <a:t> signs off</a:t>
            </a:r>
          </a:p>
        </p:txBody>
      </p:sp>
      <p:sp>
        <p:nvSpPr>
          <p:cNvPr id="624" name="Line 624"/>
          <p:cNvSpPr>
            <a:spLocks noTextEdit="1"/>
          </p:cNvSpPr>
          <p:nvPr/>
        </p:nvSpPr>
        <p:spPr>
          <a:xfrm>
            <a:off x="5016500" y="2781300"/>
            <a:ext cx="0" cy="562121"/>
          </a:xfrm>
          <a:prstGeom prst="line">
            <a:avLst/>
          </a:prstGeom>
          <a:noFill/>
          <a:ln w="19050">
            <a:solidFill>
              <a:srgbClr val="BC2228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30" name="No Label"/>
          <p:cNvSpPr/>
          <p:nvPr/>
        </p:nvSpPr>
        <p:spPr>
          <a:xfrm>
            <a:off x="4699973" y="2970042"/>
            <a:ext cx="272023" cy="233679"/>
          </a:xfrm>
          <a:prstGeom prst="rect">
            <a:avLst/>
          </a:prstGeom>
          <a:noFill/>
          <a:ln w="12700">
            <a:solidFill>
              <a:srgbClr val="BC2228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650" b="1">
                <a:solidFill>
                  <a:srgbClr val="BC2228"/>
                </a:solidFill>
                <a:latin typeface="Montserrat"/>
              </a:rPr>
              <a:t>No</a:t>
            </a:r>
          </a:p>
        </p:txBody>
      </p:sp>
      <p:sp>
        <p:nvSpPr>
          <p:cNvPr id="631" name="Yes Label"/>
          <p:cNvSpPr/>
          <p:nvPr/>
        </p:nvSpPr>
        <p:spPr>
          <a:xfrm>
            <a:off x="5845466" y="2120381"/>
            <a:ext cx="258984" cy="192257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txBody>
          <a:bodyPr wrap="square" lIns="45720" tIns="45720" rIns="45720" bIns="45720" anchor="ctr"/>
          <a:lstStyle/>
          <a:p>
            <a:pPr algn="l">
              <a:lnSpc>
                <a:spcPct val="110000"/>
              </a:lnSpc>
            </a:pPr>
            <a:r>
              <a:rPr lang="en-US" sz="650" b="1">
                <a:solidFill>
                  <a:srgbClr val="276749"/>
                </a:solidFill>
                <a:latin typeface="Montserrat"/>
              </a:rPr>
              <a:t>Yes</a:t>
            </a:r>
          </a:p>
        </p:txBody>
      </p:sp>
      <p:sp>
        <p:nvSpPr>
          <p:cNvPr id="613" name="Step4 Box"/>
          <p:cNvSpPr/>
          <p:nvPr/>
        </p:nvSpPr>
        <p:spPr>
          <a:xfrm>
            <a:off x="5937250" y="3343422"/>
            <a:ext cx="1270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00" b="1">
                <a:solidFill>
                  <a:srgbClr val="B7791F"/>
                </a:solidFill>
                <a:latin typeface="Montserrat"/>
              </a:rPr>
              <a:t>4. Implementation</a:t>
            </a:r>
          </a:p>
          <a:p>
            <a:pPr algn="ctr">
              <a:lnSpc>
                <a:spcPct val="110000"/>
              </a:lnSpc>
            </a:pPr>
            <a:r>
              <a:rPr lang="en-US" sz="650" b="0">
                <a:solidFill>
                  <a:srgbClr val="333333"/>
                </a:solidFill>
                <a:latin typeface="Montserrat"/>
              </a:rPr>
              <a:t>Tech Lead executes; documented in sprint backlog with change impact notes</a:t>
            </a:r>
          </a:p>
        </p:txBody>
      </p:sp>
      <p:sp>
        <p:nvSpPr>
          <p:cNvPr id="632" name="Rejected Box"/>
          <p:cNvSpPr/>
          <p:nvPr/>
        </p:nvSpPr>
        <p:spPr>
          <a:xfrm>
            <a:off x="4381500" y="3343421"/>
            <a:ext cx="1270000" cy="863599"/>
          </a:xfrm>
          <a:prstGeom prst="rect">
            <a:avLst/>
          </a:prstGeom>
          <a:solidFill>
            <a:srgbClr val="FFF0F0"/>
          </a:solidFill>
          <a:ln w="12700">
            <a:solidFill>
              <a:srgbClr val="BC2228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00" b="1">
                <a:solidFill>
                  <a:srgbClr val="BC2228"/>
                </a:solidFill>
                <a:latin typeface="Montserrat"/>
              </a:rPr>
              <a:t>Rejected / Deferred</a:t>
            </a:r>
          </a:p>
          <a:p>
            <a:pPr algn="ctr">
              <a:lnSpc>
                <a:spcPct val="110000"/>
              </a:lnSpc>
            </a:pPr>
            <a:r>
              <a:rPr lang="en-US" sz="650" b="0">
                <a:solidFill>
                  <a:srgbClr val="555555"/>
                </a:solidFill>
                <a:latin typeface="Montserrat"/>
              </a:rPr>
              <a:t>Logged; requester notified with rationale</a:t>
            </a:r>
          </a:p>
        </p:txBody>
      </p:sp>
      <p:sp>
        <p:nvSpPr>
          <p:cNvPr id="625" name="Line 625"/>
          <p:cNvSpPr>
            <a:spLocks noTextEdit="1"/>
          </p:cNvSpPr>
          <p:nvPr/>
        </p:nvSpPr>
        <p:spPr>
          <a:xfrm>
            <a:off x="7219950" y="3775222"/>
            <a:ext cx="260350" cy="0"/>
          </a:xfrm>
          <a:prstGeom prst="line">
            <a:avLst/>
          </a:prstGeom>
          <a:noFill/>
          <a:ln w="19050">
            <a:solidFill>
              <a:srgbClr val="B7791F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" name="Step5 Box"/>
          <p:cNvSpPr/>
          <p:nvPr/>
        </p:nvSpPr>
        <p:spPr>
          <a:xfrm>
            <a:off x="7493000" y="3343422"/>
            <a:ext cx="1140753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749"/>
            </a:solidFill>
          </a:ln>
        </p:spPr>
        <p:txBody>
          <a:bodyPr wrap="square" lIns="45720" tIns="45720" rIns="45720" bIns="45720" anchor="ctr"/>
          <a:lstStyle/>
          <a:p>
            <a:pPr algn="ctr">
              <a:lnSpc>
                <a:spcPct val="110000"/>
              </a:lnSpc>
            </a:pPr>
            <a:r>
              <a:rPr lang="en-US" sz="700" b="1">
                <a:solidFill>
                  <a:srgbClr val="276749"/>
                </a:solidFill>
                <a:latin typeface="Montserrat"/>
              </a:rPr>
              <a:t>5. Closure &amp; Docs</a:t>
            </a:r>
          </a:p>
          <a:p>
            <a:pPr algn="ctr">
              <a:lnSpc>
                <a:spcPct val="110000"/>
              </a:lnSpc>
            </a:pPr>
            <a:r>
              <a:rPr lang="en-US" sz="650" b="0">
                <a:solidFill>
                  <a:srgbClr val="333333"/>
                </a:solidFill>
                <a:latin typeface="Montserrat"/>
              </a:rPr>
              <a:t>ADR updated; scope baseline re-confirmed; all stakeholders notified</a:t>
            </a:r>
          </a:p>
        </p:txBody>
      </p:sp>
      <p:sp>
        <p:nvSpPr>
          <p:cNvPr id="3" name="Line 621">
            <a:extLst>
              <a:ext uri="{FF2B5EF4-FFF2-40B4-BE49-F238E27FC236}">
                <a16:creationId xmlns:a16="http://schemas.microsoft.com/office/drawing/2014/main" id="{2B7D5DC3-0341-BC70-C0DF-E7DDB0EA569B}"/>
              </a:ext>
            </a:extLst>
          </p:cNvPr>
          <p:cNvSpPr>
            <a:spLocks noTextEdit="1"/>
          </p:cNvSpPr>
          <p:nvPr/>
        </p:nvSpPr>
        <p:spPr>
          <a:xfrm>
            <a:off x="6405441" y="2349499"/>
            <a:ext cx="0" cy="993921"/>
          </a:xfrm>
          <a:prstGeom prst="line">
            <a:avLst/>
          </a:prstGeom>
          <a:noFill/>
          <a:ln w="19050">
            <a:solidFill>
              <a:srgbClr val="276749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" name="Line 620">
            <a:extLst>
              <a:ext uri="{FF2B5EF4-FFF2-40B4-BE49-F238E27FC236}">
                <a16:creationId xmlns:a16="http://schemas.microsoft.com/office/drawing/2014/main" id="{B1E589F2-8EE2-3625-5DD4-41092DEA6065}"/>
              </a:ext>
            </a:extLst>
          </p:cNvPr>
          <p:cNvSpPr>
            <a:spLocks noTextEdit="1"/>
          </p:cNvSpPr>
          <p:nvPr/>
        </p:nvSpPr>
        <p:spPr>
          <a:xfrm>
            <a:off x="5651500" y="2349499"/>
            <a:ext cx="753309" cy="0"/>
          </a:xfrm>
          <a:prstGeom prst="line">
            <a:avLst/>
          </a:prstGeom>
          <a:noFill/>
          <a:ln w="19050">
            <a:solidFill>
              <a:srgbClr val="04823A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" name="Line 625">
            <a:extLst>
              <a:ext uri="{FF2B5EF4-FFF2-40B4-BE49-F238E27FC236}">
                <a16:creationId xmlns:a16="http://schemas.microsoft.com/office/drawing/2014/main" id="{21645461-6B7B-44E2-6035-263F96798DF2}"/>
              </a:ext>
            </a:extLst>
          </p:cNvPr>
          <p:cNvSpPr>
            <a:spLocks noTextEdit="1"/>
          </p:cNvSpPr>
          <p:nvPr/>
        </p:nvSpPr>
        <p:spPr>
          <a:xfrm flipH="1">
            <a:off x="3488820" y="3801009"/>
            <a:ext cx="879961" cy="0"/>
          </a:xfrm>
          <a:prstGeom prst="line">
            <a:avLst/>
          </a:prstGeom>
          <a:noFill/>
          <a:ln w="19050">
            <a:solidFill>
              <a:srgbClr val="B7791F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624">
            <a:extLst>
              <a:ext uri="{FF2B5EF4-FFF2-40B4-BE49-F238E27FC236}">
                <a16:creationId xmlns:a16="http://schemas.microsoft.com/office/drawing/2014/main" id="{26B4C15D-94ED-6BF7-C485-30ACECC579EB}"/>
              </a:ext>
            </a:extLst>
          </p:cNvPr>
          <p:cNvSpPr>
            <a:spLocks noTextEdit="1"/>
          </p:cNvSpPr>
          <p:nvPr/>
        </p:nvSpPr>
        <p:spPr>
          <a:xfrm flipH="1" flipV="1">
            <a:off x="3488786" y="2793997"/>
            <a:ext cx="0" cy="1007012"/>
          </a:xfrm>
          <a:prstGeom prst="line">
            <a:avLst/>
          </a:prstGeom>
          <a:noFill/>
          <a:ln w="19050">
            <a:solidFill>
              <a:srgbClr val="BC2228"/>
            </a:solidFill>
            <a:headEnd type="none"/>
            <a:tailEnd type="arrow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64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299;p25"/>
          <p:cNvSpPr/>
          <p:nvPr/>
        </p:nvSpPr>
        <p:spPr>
          <a:xfrm>
            <a:off x="3066480" y="142920"/>
            <a:ext cx="55069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Montserrat Medium"/>
              </a:rPr>
              <a:t>Risk Management Plan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Google Shape;4196;p46"/>
          <p:cNvSpPr/>
          <p:nvPr/>
        </p:nvSpPr>
        <p:spPr>
          <a:xfrm>
            <a:off x="965200" y="711200"/>
            <a:ext cx="1625600" cy="838200"/>
          </a:xfrm>
          <a:prstGeom prst="roundRect">
            <a:avLst>
              <a:gd name="adj" fmla="val 13349"/>
            </a:avLst>
          </a:prstGeom>
          <a:solidFill>
            <a:srgbClr val="FFFFFF"/>
          </a:solidFill>
          <a:ln w="9525">
            <a:solidFill>
              <a:srgbClr val="BC2228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</a:rPr>
              <a:t>Identification of Risks</a:t>
            </a:r>
          </a:p>
        </p:txBody>
      </p:sp>
      <p:sp>
        <p:nvSpPr>
          <p:cNvPr id="597" name="Google Shape;4197;p46"/>
          <p:cNvSpPr/>
          <p:nvPr/>
        </p:nvSpPr>
        <p:spPr>
          <a:xfrm>
            <a:off x="965200" y="1600200"/>
            <a:ext cx="1625600" cy="838200"/>
          </a:xfrm>
          <a:prstGeom prst="roundRect">
            <a:avLst>
              <a:gd name="adj" fmla="val 13349"/>
            </a:avLst>
          </a:prstGeom>
          <a:solidFill>
            <a:srgbClr val="FFFFFF"/>
          </a:solidFill>
          <a:ln w="9525">
            <a:solidFill>
              <a:srgbClr val="BC2228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0070C0"/>
                </a:solidFill>
                <a:latin typeface="Montserrat"/>
              </a:rPr>
              <a:t>Risk Assessment</a:t>
            </a:r>
          </a:p>
        </p:txBody>
      </p:sp>
      <p:sp>
        <p:nvSpPr>
          <p:cNvPr id="598" name="Google Shape;4198;p46"/>
          <p:cNvSpPr/>
          <p:nvPr/>
        </p:nvSpPr>
        <p:spPr>
          <a:xfrm>
            <a:off x="965200" y="2489200"/>
            <a:ext cx="1625600" cy="838200"/>
          </a:xfrm>
          <a:prstGeom prst="roundRect">
            <a:avLst>
              <a:gd name="adj" fmla="val 13349"/>
            </a:avLst>
          </a:prstGeom>
          <a:solidFill>
            <a:srgbClr val="FFFFFF"/>
          </a:solidFill>
          <a:ln w="9525">
            <a:solidFill>
              <a:srgbClr val="BC2228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</a:rPr>
              <a:t>Risk Mitigation &amp;</a:t>
            </a:r>
          </a:p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</a:rPr>
              <a:t>Contingency Plan</a:t>
            </a:r>
          </a:p>
        </p:txBody>
      </p:sp>
      <p:cxnSp>
        <p:nvCxnSpPr>
          <p:cNvPr id="599" name="Google Shape;4202;p46"/>
          <p:cNvCxnSpPr/>
          <p:nvPr/>
        </p:nvCxnSpPr>
        <p:spPr>
          <a:xfrm>
            <a:off x="1270000" y="1549400"/>
            <a:ext cx="12700" cy="50800"/>
          </a:xfrm>
          <a:prstGeom prst="straightConnector1">
            <a:avLst/>
          </a:prstGeom>
          <a:ln w="9525">
            <a:solidFill>
              <a:srgbClr val="BC2228"/>
            </a:solidFill>
            <a:prstDash val="dash"/>
            <a:round/>
            <a:tailEnd type="triangle" w="med" len="med"/>
          </a:ln>
        </p:spPr>
      </p:cxnSp>
      <p:cxnSp>
        <p:nvCxnSpPr>
          <p:cNvPr id="600" name="Google Shape;4203;p46"/>
          <p:cNvCxnSpPr/>
          <p:nvPr/>
        </p:nvCxnSpPr>
        <p:spPr>
          <a:xfrm>
            <a:off x="1270000" y="2438400"/>
            <a:ext cx="12700" cy="50800"/>
          </a:xfrm>
          <a:prstGeom prst="straightConnector1">
            <a:avLst/>
          </a:prstGeom>
          <a:ln w="9525">
            <a:solidFill>
              <a:srgbClr val="BC2228"/>
            </a:solidFill>
            <a:prstDash val="dash"/>
            <a:round/>
            <a:tailEnd type="triangle" w="med" len="med"/>
          </a:ln>
        </p:spPr>
      </p:cxnSp>
      <p:cxnSp>
        <p:nvCxnSpPr>
          <p:cNvPr id="601" name="Google Shape;4204;p46"/>
          <p:cNvCxnSpPr/>
          <p:nvPr/>
        </p:nvCxnSpPr>
        <p:spPr>
          <a:xfrm>
            <a:off x="1270000" y="3327400"/>
            <a:ext cx="12700" cy="50800"/>
          </a:xfrm>
          <a:prstGeom prst="straightConnector1">
            <a:avLst/>
          </a:prstGeom>
          <a:ln w="9525">
            <a:solidFill>
              <a:srgbClr val="BC2228"/>
            </a:solidFill>
            <a:prstDash val="dash"/>
            <a:round/>
            <a:tailEnd type="triangle" w="med" len="med"/>
          </a:ln>
        </p:spPr>
      </p:cxnSp>
      <p:cxnSp>
        <p:nvCxnSpPr>
          <p:cNvPr id="602" name="Google Shape;4204;p46"/>
          <p:cNvCxnSpPr/>
          <p:nvPr/>
        </p:nvCxnSpPr>
        <p:spPr>
          <a:xfrm>
            <a:off x="1270000" y="4216400"/>
            <a:ext cx="12700" cy="50800"/>
          </a:xfrm>
          <a:prstGeom prst="straightConnector1">
            <a:avLst/>
          </a:prstGeom>
          <a:ln w="9525">
            <a:solidFill>
              <a:srgbClr val="BC2228"/>
            </a:solidFill>
            <a:prstDash val="dash"/>
            <a:round/>
            <a:tailEnd type="triangle" w="med" len="med"/>
          </a:ln>
        </p:spPr>
      </p:cxnSp>
      <p:sp>
        <p:nvSpPr>
          <p:cNvPr id="603" name="Google Shape;4198;p46"/>
          <p:cNvSpPr/>
          <p:nvPr/>
        </p:nvSpPr>
        <p:spPr>
          <a:xfrm>
            <a:off x="965200" y="3378200"/>
            <a:ext cx="1625600" cy="838200"/>
          </a:xfrm>
          <a:prstGeom prst="roundRect">
            <a:avLst>
              <a:gd name="adj" fmla="val 13349"/>
            </a:avLst>
          </a:prstGeom>
          <a:solidFill>
            <a:srgbClr val="FFFFFF"/>
          </a:solidFill>
          <a:ln w="9525">
            <a:solidFill>
              <a:srgbClr val="BC2228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</a:rPr>
              <a:t>Implementation &amp;</a:t>
            </a:r>
          </a:p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</a:rPr>
              <a:t>Monitoring</a:t>
            </a:r>
          </a:p>
        </p:txBody>
      </p:sp>
      <p:sp>
        <p:nvSpPr>
          <p:cNvPr id="604" name="Google Shape;4198;p46"/>
          <p:cNvSpPr/>
          <p:nvPr/>
        </p:nvSpPr>
        <p:spPr>
          <a:xfrm>
            <a:off x="965200" y="4267200"/>
            <a:ext cx="1625600" cy="838200"/>
          </a:xfrm>
          <a:prstGeom prst="roundRect">
            <a:avLst>
              <a:gd name="adj" fmla="val 13349"/>
            </a:avLst>
          </a:prstGeom>
          <a:solidFill>
            <a:srgbClr val="FFFFFF"/>
          </a:solidFill>
          <a:ln w="9525">
            <a:solidFill>
              <a:srgbClr val="BC2228"/>
            </a:solidFill>
            <a:prstDash val="dash"/>
            <a:round/>
          </a:ln>
          <a:effectLst>
            <a:outerShdw blurRad="271440" dist="104760" dir="5400000" algn="bl" rotWithShape="0">
              <a:srgbClr val="000000">
                <a:alpha val="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</a:rPr>
              <a:t>Review &amp; Update</a:t>
            </a:r>
          </a:p>
          <a:p>
            <a:pPr algn="ctr" defTabSz="685800">
              <a:lnSpc>
                <a:spcPct val="100000"/>
              </a:lnSpc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</a:rPr>
              <a:t>Risk Plan</a:t>
            </a:r>
          </a:p>
        </p:txBody>
      </p:sp>
      <p:sp>
        <p:nvSpPr>
          <p:cNvPr id="605" name="Google Shape;4195;p46"/>
          <p:cNvSpPr/>
          <p:nvPr/>
        </p:nvSpPr>
        <p:spPr>
          <a:xfrm>
            <a:off x="203200" y="736600"/>
            <a:ext cx="711200" cy="20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" sz="1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01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Google Shape;4195;p46"/>
          <p:cNvSpPr/>
          <p:nvPr/>
        </p:nvSpPr>
        <p:spPr>
          <a:xfrm>
            <a:off x="203200" y="1625600"/>
            <a:ext cx="711200" cy="20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" sz="1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02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Google Shape;4195;p46"/>
          <p:cNvSpPr/>
          <p:nvPr/>
        </p:nvSpPr>
        <p:spPr>
          <a:xfrm>
            <a:off x="203200" y="2514600"/>
            <a:ext cx="711200" cy="20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" sz="1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03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Google Shape;4195;p46"/>
          <p:cNvSpPr/>
          <p:nvPr/>
        </p:nvSpPr>
        <p:spPr>
          <a:xfrm>
            <a:off x="203200" y="3403600"/>
            <a:ext cx="711200" cy="20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" sz="1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04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Google Shape;4195;p46"/>
          <p:cNvSpPr/>
          <p:nvPr/>
        </p:nvSpPr>
        <p:spPr>
          <a:xfrm>
            <a:off x="203200" y="4292600"/>
            <a:ext cx="711200" cy="20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" sz="1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05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AEC0DD8E-D4E8-4B18-98C1-EAF391DB2081}" type="slidenum">
              <a:rPr/>
              <a:t>19</a:t>
            </a:fld>
            <a:endParaRPr/>
          </a:p>
        </p:txBody>
      </p:sp>
      <p:sp>
        <p:nvSpPr>
          <p:cNvPr id="700" name="RiskHdr"/>
          <p:cNvSpPr txBox="1"/>
          <p:nvPr/>
        </p:nvSpPr>
        <p:spPr>
          <a:xfrm>
            <a:off x="2730500" y="457200"/>
            <a:ext cx="5943600" cy="228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45720" tIns="18000" rIns="45720" bIns="18000" anchor="ctr"/>
          <a:lstStyle/>
          <a:p>
            <a:pPr algn="ctr">
              <a:lnSpc>
                <a:spcPct val="100000"/>
              </a:lnSpc>
            </a:pPr>
            <a:r>
              <a:rPr lang="en-US" sz="800" b="1" dirty="0">
                <a:solidFill>
                  <a:srgbClr val="FFFFFF"/>
                </a:solidFill>
                <a:latin typeface="Montserrat"/>
              </a:rPr>
              <a:t>ABC Project — 7 Key Risks</a:t>
            </a:r>
          </a:p>
        </p:txBody>
      </p:sp>
      <p:graphicFrame>
        <p:nvGraphicFramePr>
          <p:cNvPr id="701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401785"/>
              </p:ext>
            </p:extLst>
          </p:nvPr>
        </p:nvGraphicFramePr>
        <p:xfrm>
          <a:off x="2730500" y="682324"/>
          <a:ext cx="5943600" cy="442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0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2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Category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Prob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Impact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/>
                        </a:rPr>
                        <a:t>Mitigation Strategy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97">
                <a:tc>
                  <a:txBody>
                    <a:bodyPr/>
                    <a:lstStyle/>
                    <a:p>
                      <a:r>
                        <a:rPr sz="1050"/>
                        <a:t>1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C0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API Latency Spikes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Med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High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Pre-fetching and caching embeddings; asynchronous loading state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597">
                <a:tc>
                  <a:txBody>
                    <a:bodyPr/>
                    <a:lstStyle/>
                    <a:p>
                      <a:r>
                        <a:rPr sz="1050"/>
                        <a:t>2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7B4F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LLM Rate Limiting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High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High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Retry handler; prompt token budget controls; exponential backoff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996">
                <a:tc>
                  <a:txBody>
                    <a:bodyPr/>
                    <a:lstStyle/>
                    <a:p>
                      <a:r>
                        <a:rPr sz="1050"/>
                        <a:t>3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BC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Database Schema Drift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Low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Med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Automated EF Core migrations; schema validation in staging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597">
                <a:tc>
                  <a:txBody>
                    <a:bodyPr/>
                    <a:lstStyle/>
                    <a:p>
                      <a:r>
                        <a:rPr sz="1050"/>
                        <a:t>4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7B4F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Prompt Injection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Low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Crit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Input sanitization; strict system prompt rules; LLM response parsing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996">
                <a:tc>
                  <a:txBody>
                    <a:bodyPr/>
                    <a:lstStyle/>
                    <a:p>
                      <a:r>
                        <a:rPr sz="1050"/>
                        <a:t>5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BC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Session Data Leakage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Low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Crit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Row-Level Security (RLS) in PostgreSQL; JWT token verification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996">
                <a:tc>
                  <a:txBody>
                    <a:bodyPr/>
                    <a:lstStyle/>
                    <a:p>
                      <a:r>
                        <a:rPr sz="1050"/>
                        <a:t>6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C0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Local Hardware Limits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High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Med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In-memory backup fallback (</a:t>
                      </a:r>
                      <a:r>
                        <a:rPr sz="1050" dirty="0" err="1"/>
                        <a:t>ConcurrentDictionary</a:t>
                      </a:r>
                      <a:r>
                        <a:rPr sz="1050" dirty="0"/>
                        <a:t>) by default locally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6996">
                <a:tc>
                  <a:txBody>
                    <a:bodyPr/>
                    <a:lstStyle/>
                    <a:p>
                      <a:r>
                        <a:rPr sz="1050" dirty="0"/>
                        <a:t>7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7B4F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User Adoption Barriers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Med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Med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Clean interactive Blazor HTML elements (links, Add-to-Cart buttons)</a:t>
                      </a:r>
                    </a:p>
                  </a:txBody>
                  <a:tcPr>
                    <a:lnL w="9525">
                      <a:solidFill>
                        <a:srgbClr val="E0E0E0"/>
                      </a:solidFill>
                    </a:lnL>
                    <a:lnR w="9525">
                      <a:solidFill>
                        <a:srgbClr val="E0E0E0"/>
                      </a:solidFill>
                    </a:lnR>
                    <a:lnT w="9525">
                      <a:solidFill>
                        <a:srgbClr val="E0E0E0"/>
                      </a:solidFill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775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4411;p53"/>
          <p:cNvSpPr/>
          <p:nvPr/>
        </p:nvSpPr>
        <p:spPr>
          <a:xfrm>
            <a:off x="1028880" y="875520"/>
            <a:ext cx="232092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  <a:ea typeface="Montserrat"/>
              </a:rPr>
              <a:t>Rikkeisoft CORPORATION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Google Shape;4412;p53"/>
          <p:cNvSpPr/>
          <p:nvPr/>
        </p:nvSpPr>
        <p:spPr>
          <a:xfrm>
            <a:off x="1032120" y="1030320"/>
            <a:ext cx="54824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Headquarters: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21st Floor, Handico Tower, Pham Hung, Me Tri, Nam Tu Liem, Hanoi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Google Shape;4413;p53"/>
          <p:cNvSpPr/>
          <p:nvPr/>
        </p:nvSpPr>
        <p:spPr>
          <a:xfrm>
            <a:off x="1032120" y="1388880"/>
            <a:ext cx="548244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Offices: 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marL="314280" indent="-152280" algn="just" defTabSz="685800">
              <a:lnSpc>
                <a:spcPct val="115000"/>
              </a:lnSpc>
              <a:buClr>
                <a:srgbClr val="171717"/>
              </a:buClr>
              <a:buFont typeface="Montserrat"/>
              <a:buChar char="●"/>
              <a:tabLst>
                <a:tab pos="0" algn="l"/>
              </a:tabLst>
            </a:pPr>
            <a:r>
              <a:rPr lang="en-US" sz="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Da Nang:</a:t>
            </a:r>
            <a:r>
              <a:rPr lang="en-US" sz="600" b="0" strike="noStrike" spc="-1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6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11th Floor, VietNam News Agency Building, 81 Quang Trung St., Hai Chau Dist, Danang, VietNam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marL="314280" indent="-152280" algn="just" defTabSz="685800">
              <a:lnSpc>
                <a:spcPct val="115000"/>
              </a:lnSpc>
              <a:buClr>
                <a:srgbClr val="171717"/>
              </a:buClr>
              <a:buFont typeface="Montserrat"/>
              <a:buChar char="●"/>
              <a:tabLst>
                <a:tab pos="0" algn="l"/>
              </a:tabLst>
            </a:pPr>
            <a:r>
              <a:rPr lang="en-US" sz="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Ho Chi Minh City:</a:t>
            </a:r>
            <a:r>
              <a:rPr lang="en-US" sz="600" b="0" strike="noStrike" spc="-1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6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7th Floor, Maritime Safety South Building, 42 Tu Cuong St., Ward 4, Tan Binh Dist, Ho Chi Minh City, Vietnam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marL="314280" indent="-152280" algn="just" defTabSz="685800">
              <a:lnSpc>
                <a:spcPct val="115000"/>
              </a:lnSpc>
              <a:buClr>
                <a:srgbClr val="171717"/>
              </a:buClr>
              <a:buFont typeface="Montserrat"/>
              <a:buChar char="●"/>
              <a:tabLst>
                <a:tab pos="0" algn="l"/>
              </a:tabLst>
            </a:pPr>
            <a:r>
              <a:rPr lang="en-US" sz="600" b="1" strike="noStrike" spc="-1">
                <a:solidFill>
                  <a:schemeClr val="dk1"/>
                </a:solidFill>
                <a:latin typeface="Montserrat"/>
                <a:ea typeface="Montserrat"/>
              </a:rPr>
              <a:t>Hue City:</a:t>
            </a:r>
            <a:r>
              <a:rPr lang="en-US" sz="600" b="0" strike="noStrike" spc="-1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6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62 To Huu St, Xuan Phu Dist, Hue City, Vietnam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Google Shape;4414;p53"/>
          <p:cNvSpPr/>
          <p:nvPr/>
        </p:nvSpPr>
        <p:spPr>
          <a:xfrm>
            <a:off x="1028880" y="4276080"/>
            <a:ext cx="232092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  <a:ea typeface="Montserrat"/>
              </a:rPr>
              <a:t>RKTECH CORP.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Google Shape;4415;p53"/>
          <p:cNvSpPr/>
          <p:nvPr/>
        </p:nvSpPr>
        <p:spPr>
          <a:xfrm>
            <a:off x="1028880" y="4425840"/>
            <a:ext cx="54824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Headquarters: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Preston Park Towers West, 4975 Preston Park Blvd, Suite 505, Plano, Texas, 75093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Google Shape;4416;p53"/>
          <p:cNvSpPr/>
          <p:nvPr/>
        </p:nvSpPr>
        <p:spPr>
          <a:xfrm>
            <a:off x="1028880" y="2096640"/>
            <a:ext cx="232092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  <a:ea typeface="Montserrat"/>
              </a:rPr>
              <a:t>RIKKEI JAPAN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Google Shape;4417;p53"/>
          <p:cNvSpPr/>
          <p:nvPr/>
        </p:nvSpPr>
        <p:spPr>
          <a:xfrm>
            <a:off x="1028880" y="2261160"/>
            <a:ext cx="54824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Headquarters: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3rd Floor, Fujishima Building, Tamachi 16 Street, 4-13-4 Shiba, Minato-ku, Tokyo, Japan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Google Shape;4418;p53"/>
          <p:cNvSpPr/>
          <p:nvPr/>
        </p:nvSpPr>
        <p:spPr>
          <a:xfrm>
            <a:off x="1028880" y="2600280"/>
            <a:ext cx="548244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Offices: 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  <a:p>
            <a:pPr marL="314280" indent="-152280" algn="just" defTabSz="685800">
              <a:lnSpc>
                <a:spcPct val="115000"/>
              </a:lnSpc>
              <a:buClr>
                <a:srgbClr val="171717"/>
              </a:buClr>
              <a:buFont typeface="Montserrat"/>
              <a:buChar char="●"/>
              <a:tabLst>
                <a:tab pos="0" algn="l"/>
              </a:tabLst>
            </a:pPr>
            <a:r>
              <a:rPr lang="en-US" sz="6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Osaka:</a:t>
            </a:r>
            <a:r>
              <a:rPr lang="en-US" sz="6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2nd Floor, Office’ Port Osaka, 3-5-10 </a:t>
            </a:r>
            <a:r>
              <a:rPr lang="en-US" sz="600" b="0" strike="noStrike" spc="-1" dirty="0" err="1">
                <a:solidFill>
                  <a:schemeClr val="accent6"/>
                </a:solidFill>
                <a:latin typeface="Montserrat Medium"/>
                <a:ea typeface="Montserrat Medium"/>
              </a:rPr>
              <a:t>Nishitenma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, Kita-</a:t>
            </a:r>
            <a:r>
              <a:rPr lang="en-US" sz="600" b="0" strike="noStrike" spc="-1" dirty="0" err="1">
                <a:solidFill>
                  <a:schemeClr val="accent6"/>
                </a:solidFill>
                <a:latin typeface="Montserrat Medium"/>
                <a:ea typeface="Montserrat Medium"/>
              </a:rPr>
              <a:t>ku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, Osaka, Japan</a:t>
            </a:r>
            <a:endParaRPr lang="en-US" sz="600" b="0" strike="noStrike" spc="-1" dirty="0">
              <a:solidFill>
                <a:srgbClr val="000000"/>
              </a:solidFill>
              <a:latin typeface="Arial"/>
            </a:endParaRPr>
          </a:p>
          <a:p>
            <a:pPr marL="314280" indent="-152280" algn="just" defTabSz="685800">
              <a:lnSpc>
                <a:spcPct val="115000"/>
              </a:lnSpc>
              <a:buClr>
                <a:srgbClr val="171717"/>
              </a:buClr>
              <a:buFont typeface="Montserrat"/>
              <a:buChar char="●"/>
              <a:tabLst>
                <a:tab pos="0" algn="l"/>
              </a:tabLst>
            </a:pPr>
            <a:r>
              <a:rPr lang="en-US" sz="6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Nagoya:</a:t>
            </a:r>
            <a:r>
              <a:rPr lang="en-US" sz="6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40th Floor, Nagoya Lucent Tower, 6-1 Ushijima-</a:t>
            </a:r>
            <a:r>
              <a:rPr lang="en-US" sz="600" b="0" strike="noStrike" spc="-1" dirty="0" err="1">
                <a:solidFill>
                  <a:schemeClr val="accent6"/>
                </a:solidFill>
                <a:latin typeface="Montserrat Medium"/>
                <a:ea typeface="Montserrat Medium"/>
              </a:rPr>
              <a:t>cho</a:t>
            </a:r>
            <a:r>
              <a:rPr lang="en-US" sz="6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, Nishi-</a:t>
            </a:r>
            <a:r>
              <a:rPr lang="en-US" sz="600" b="0" strike="noStrike" spc="-1" dirty="0" err="1">
                <a:solidFill>
                  <a:schemeClr val="accent6"/>
                </a:solidFill>
                <a:latin typeface="Montserrat Medium"/>
                <a:ea typeface="Montserrat Medium"/>
              </a:rPr>
              <a:t>ku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, Nagoya, Japan</a:t>
            </a:r>
            <a:endParaRPr lang="en-US" sz="600" b="0" strike="noStrike" spc="-1" dirty="0">
              <a:solidFill>
                <a:srgbClr val="000000"/>
              </a:solidFill>
              <a:latin typeface="Arial"/>
            </a:endParaRPr>
          </a:p>
          <a:p>
            <a:pPr marL="314280" indent="-152280" algn="just" defTabSz="685800">
              <a:lnSpc>
                <a:spcPct val="115000"/>
              </a:lnSpc>
              <a:buClr>
                <a:srgbClr val="171717"/>
              </a:buClr>
              <a:buFont typeface="Montserrat"/>
              <a:buChar char="●"/>
              <a:tabLst>
                <a:tab pos="0" algn="l"/>
              </a:tabLst>
            </a:pPr>
            <a:r>
              <a:rPr lang="en-US" sz="6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Fukuoka:</a:t>
            </a:r>
            <a:r>
              <a:rPr lang="en-US" sz="600" b="0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Hakata Suncity Building 507, </a:t>
            </a:r>
            <a:r>
              <a:rPr lang="en-US" sz="600" b="0" strike="noStrike" spc="-1" dirty="0" err="1">
                <a:solidFill>
                  <a:schemeClr val="accent6"/>
                </a:solidFill>
                <a:latin typeface="Montserrat Medium"/>
                <a:ea typeface="Montserrat Medium"/>
              </a:rPr>
              <a:t>Hakataekiminami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 2-chōme−1−5, Hakata-</a:t>
            </a:r>
            <a:r>
              <a:rPr lang="en-US" sz="600" b="0" strike="noStrike" spc="-1" dirty="0" err="1">
                <a:solidFill>
                  <a:schemeClr val="accent6"/>
                </a:solidFill>
                <a:latin typeface="Montserrat Medium"/>
                <a:ea typeface="Montserrat Medium"/>
              </a:rPr>
              <a:t>ku</a:t>
            </a:r>
            <a:r>
              <a:rPr lang="en-US" sz="600" b="0" strike="noStrike" spc="-1" dirty="0">
                <a:solidFill>
                  <a:schemeClr val="accent6"/>
                </a:solidFill>
                <a:latin typeface="Montserrat Medium"/>
                <a:ea typeface="Montserrat Medium"/>
              </a:rPr>
              <a:t>, Fukuoka, Japan</a:t>
            </a:r>
            <a:endParaRPr lang="en-US" sz="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9" name="Google Shape;4419;p53"/>
          <p:cNvPicPr/>
          <p:nvPr/>
        </p:nvPicPr>
        <p:blipFill>
          <a:blip r:embed="rId2"/>
          <a:stretch/>
        </p:blipFill>
        <p:spPr>
          <a:xfrm>
            <a:off x="575280" y="2114640"/>
            <a:ext cx="303120" cy="227160"/>
          </a:xfrm>
          <a:prstGeom prst="rect">
            <a:avLst/>
          </a:prstGeom>
          <a:ln w="9525">
            <a:solidFill>
              <a:srgbClr val="B7B7B7"/>
            </a:solidFill>
            <a:round/>
          </a:ln>
        </p:spPr>
      </p:pic>
      <p:pic>
        <p:nvPicPr>
          <p:cNvPr id="620" name="Google Shape;4420;p53"/>
          <p:cNvPicPr/>
          <p:nvPr/>
        </p:nvPicPr>
        <p:blipFill>
          <a:blip r:embed="rId3"/>
          <a:stretch/>
        </p:blipFill>
        <p:spPr>
          <a:xfrm>
            <a:off x="575280" y="4309920"/>
            <a:ext cx="303120" cy="227160"/>
          </a:xfrm>
          <a:prstGeom prst="rect">
            <a:avLst/>
          </a:prstGeom>
          <a:ln w="0">
            <a:noFill/>
          </a:ln>
        </p:spPr>
      </p:pic>
      <p:pic>
        <p:nvPicPr>
          <p:cNvPr id="621" name="Google Shape;4421;p53"/>
          <p:cNvPicPr/>
          <p:nvPr/>
        </p:nvPicPr>
        <p:blipFill>
          <a:blip r:embed="rId4"/>
          <a:stretch/>
        </p:blipFill>
        <p:spPr>
          <a:xfrm>
            <a:off x="575280" y="875520"/>
            <a:ext cx="303120" cy="227160"/>
          </a:xfrm>
          <a:prstGeom prst="rect">
            <a:avLst/>
          </a:prstGeom>
          <a:ln w="0">
            <a:noFill/>
          </a:ln>
        </p:spPr>
      </p:pic>
      <p:sp>
        <p:nvSpPr>
          <p:cNvPr id="622" name="Google Shape;4422;p53"/>
          <p:cNvSpPr/>
          <p:nvPr/>
        </p:nvSpPr>
        <p:spPr>
          <a:xfrm>
            <a:off x="6743880" y="428400"/>
            <a:ext cx="2404440" cy="42865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57120" dist="76320" dir="5400000" algn="bl" rotWithShape="0">
              <a:srgbClr val="000000">
                <a:alpha val="1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5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623" name="Google Shape;4423;p53"/>
          <p:cNvPicPr/>
          <p:nvPr/>
        </p:nvPicPr>
        <p:blipFill>
          <a:blip r:embed="rId5">
            <a:alphaModFix amt="69000"/>
          </a:blip>
          <a:stretch/>
        </p:blipFill>
        <p:spPr>
          <a:xfrm>
            <a:off x="7500240" y="1979640"/>
            <a:ext cx="1230120" cy="1223280"/>
          </a:xfrm>
          <a:prstGeom prst="rect">
            <a:avLst/>
          </a:prstGeom>
          <a:ln w="0">
            <a:noFill/>
          </a:ln>
        </p:spPr>
      </p:pic>
      <p:sp>
        <p:nvSpPr>
          <p:cNvPr id="624" name="Google Shape;4424;p53"/>
          <p:cNvSpPr/>
          <p:nvPr/>
        </p:nvSpPr>
        <p:spPr>
          <a:xfrm>
            <a:off x="7201080" y="2202480"/>
            <a:ext cx="136368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chemeClr val="lt1"/>
                </a:solidFill>
                <a:latin typeface="Montserrat ExtraBold"/>
                <a:ea typeface="Montserrat ExtraBold"/>
              </a:rPr>
              <a:t>Thank you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Google Shape;4425;p53"/>
          <p:cNvSpPr/>
          <p:nvPr/>
        </p:nvSpPr>
        <p:spPr>
          <a:xfrm>
            <a:off x="7356960" y="3889440"/>
            <a:ext cx="135468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00000"/>
              </a:lnSpc>
            </a:pPr>
            <a:r>
              <a:rPr lang="en-US" sz="600" b="0" strike="noStrike" spc="-1" dirty="0">
                <a:solidFill>
                  <a:schemeClr val="lt1"/>
                </a:solidFill>
                <a:latin typeface="Montserrat"/>
              </a:rPr>
              <a:t>POC: truonglpx@rikkeisoft.com</a:t>
            </a:r>
            <a:endParaRPr lang="en-US" sz="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Google Shape;4426;p53"/>
          <p:cNvSpPr/>
          <p:nvPr/>
        </p:nvSpPr>
        <p:spPr>
          <a:xfrm>
            <a:off x="7201080" y="4068360"/>
            <a:ext cx="92160" cy="9216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27" name="Google Shape;4427;p53"/>
          <p:cNvSpPr/>
          <p:nvPr/>
        </p:nvSpPr>
        <p:spPr>
          <a:xfrm>
            <a:off x="7365960" y="4068360"/>
            <a:ext cx="135468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chemeClr val="lt1"/>
                </a:solidFill>
                <a:latin typeface="Montserrat"/>
                <a:ea typeface="Montserrat"/>
              </a:rPr>
              <a:t>www.rikkeisoft.com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Google Shape;4428;p53"/>
          <p:cNvSpPr/>
          <p:nvPr/>
        </p:nvSpPr>
        <p:spPr>
          <a:xfrm>
            <a:off x="7201080" y="3889440"/>
            <a:ext cx="92160" cy="9216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29" name="Google Shape;4429;p53"/>
          <p:cNvSpPr/>
          <p:nvPr/>
        </p:nvSpPr>
        <p:spPr>
          <a:xfrm>
            <a:off x="1028880" y="3430080"/>
            <a:ext cx="232092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BC2228"/>
                </a:solidFill>
                <a:latin typeface="Montserrat"/>
                <a:ea typeface="Montserrat"/>
              </a:rPr>
              <a:t>RIKKEI THAILAND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Google Shape;4430;p53"/>
          <p:cNvSpPr/>
          <p:nvPr/>
        </p:nvSpPr>
        <p:spPr>
          <a:xfrm>
            <a:off x="1028880" y="3597120"/>
            <a:ext cx="54824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Headquarters: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685800">
              <a:lnSpc>
                <a:spcPct val="115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chemeClr val="accent6"/>
                </a:solidFill>
                <a:latin typeface="Montserrat Medium"/>
                <a:ea typeface="Montserrat Medium"/>
              </a:rPr>
              <a:t>Ramaland building, no. 952 Rama IV Road, Khwaeng Suriyawongse, Khet Bangrak, Bangkok Thailand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1" name="Google Shape;4431;p53"/>
          <p:cNvPicPr/>
          <p:nvPr/>
        </p:nvPicPr>
        <p:blipFill>
          <a:blip r:embed="rId6"/>
          <a:srcRect l="5635" r="5635"/>
          <a:stretch/>
        </p:blipFill>
        <p:spPr>
          <a:xfrm>
            <a:off x="556200" y="3430080"/>
            <a:ext cx="303120" cy="227160"/>
          </a:xfrm>
          <a:prstGeom prst="rect">
            <a:avLst/>
          </a:prstGeom>
          <a:ln w="0">
            <a:noFill/>
          </a:ln>
        </p:spPr>
      </p:pic>
      <p:pic>
        <p:nvPicPr>
          <p:cNvPr id="632" name="Picture 2" descr="A black and grey logo&#10;&#10;Description automatically generated"/>
          <p:cNvPicPr/>
          <p:nvPr/>
        </p:nvPicPr>
        <p:blipFill>
          <a:blip r:embed="rId7"/>
          <a:stretch/>
        </p:blipFill>
        <p:spPr>
          <a:xfrm>
            <a:off x="516240" y="235800"/>
            <a:ext cx="756360" cy="37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KTech (Final)">
  <a:themeElements>
    <a:clrScheme name="Rikkeisoft Theme">
      <a:dk1>
        <a:srgbClr val="171717"/>
      </a:dk1>
      <a:lt1>
        <a:srgbClr val="FAFAFA"/>
      </a:lt1>
      <a:dk2>
        <a:srgbClr val="D4D4D4"/>
      </a:dk2>
      <a:lt2>
        <a:srgbClr val="FFFFFF"/>
      </a:lt2>
      <a:accent1>
        <a:srgbClr val="BC2228"/>
      </a:accent1>
      <a:accent2>
        <a:srgbClr val="F3DEDA"/>
      </a:accent2>
      <a:accent3>
        <a:srgbClr val="DD7E6B"/>
      </a:accent3>
      <a:accent4>
        <a:srgbClr val="CC4125"/>
      </a:accent4>
      <a:accent5>
        <a:srgbClr val="A61C00"/>
      </a:accent5>
      <a:accent6>
        <a:srgbClr val="525252"/>
      </a:accent6>
      <a:hlink>
        <a:srgbClr val="6FA8DC"/>
      </a:hlink>
      <a:folHlink>
        <a:srgbClr val="954F72"/>
      </a:folHlink>
    </a:clrScheme>
    <a:fontScheme name="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KTech (Final)">
  <a:themeElements>
    <a:clrScheme name="Rikkeisoft Theme">
      <a:dk1>
        <a:srgbClr val="171717"/>
      </a:dk1>
      <a:lt1>
        <a:srgbClr val="FAFAFA"/>
      </a:lt1>
      <a:dk2>
        <a:srgbClr val="D4D4D4"/>
      </a:dk2>
      <a:lt2>
        <a:srgbClr val="FFFFFF"/>
      </a:lt2>
      <a:accent1>
        <a:srgbClr val="BC2228"/>
      </a:accent1>
      <a:accent2>
        <a:srgbClr val="F3DEDA"/>
      </a:accent2>
      <a:accent3>
        <a:srgbClr val="DD7E6B"/>
      </a:accent3>
      <a:accent4>
        <a:srgbClr val="CC4125"/>
      </a:accent4>
      <a:accent5>
        <a:srgbClr val="A61C00"/>
      </a:accent5>
      <a:accent6>
        <a:srgbClr val="525252"/>
      </a:accent6>
      <a:hlink>
        <a:srgbClr val="6FA8DC"/>
      </a:hlink>
      <a:folHlink>
        <a:srgbClr val="954F72"/>
      </a:folHlink>
    </a:clrScheme>
    <a:fontScheme name="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KTech (Final)">
  <a:themeElements>
    <a:clrScheme name="Rikkeisoft Theme">
      <a:dk1>
        <a:srgbClr val="171717"/>
      </a:dk1>
      <a:lt1>
        <a:srgbClr val="FAFAFA"/>
      </a:lt1>
      <a:dk2>
        <a:srgbClr val="D4D4D4"/>
      </a:dk2>
      <a:lt2>
        <a:srgbClr val="FFFFFF"/>
      </a:lt2>
      <a:accent1>
        <a:srgbClr val="BC2228"/>
      </a:accent1>
      <a:accent2>
        <a:srgbClr val="F3DEDA"/>
      </a:accent2>
      <a:accent3>
        <a:srgbClr val="DD7E6B"/>
      </a:accent3>
      <a:accent4>
        <a:srgbClr val="CC4125"/>
      </a:accent4>
      <a:accent5>
        <a:srgbClr val="A61C00"/>
      </a:accent5>
      <a:accent6>
        <a:srgbClr val="525252"/>
      </a:accent6>
      <a:hlink>
        <a:srgbClr val="6FA8DC"/>
      </a:hlink>
      <a:folHlink>
        <a:srgbClr val="954F72"/>
      </a:folHlink>
    </a:clrScheme>
    <a:fontScheme name="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2C4403-9BDF-0F4D-A2EC-8483E4BE022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43b074a-074b-46b3-8121-25040e4255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68149696-4bd1-495b-8da1-d1ac8c65b8e4" xsi:nil="true"/>
    <lcf76f155ced4ddcb4097134ff3c332f xmlns="68149696-4bd1-495b-8da1-d1ac8c65b8e4">
      <Terms xmlns="http://schemas.microsoft.com/office/infopath/2007/PartnerControls"/>
    </lcf76f155ced4ddcb4097134ff3c332f>
    <TaxCatchAll xmlns="0c413b55-1488-437a-ac0f-bded79925bd6" xsi:nil="true"/>
    <Person0 xmlns="68149696-4bd1-495b-8da1-d1ac8c65b8e4">
      <UserInfo>
        <DisplayName/>
        <AccountId xsi:nil="true"/>
        <AccountType/>
      </UserInfo>
    </Person0>
    <person xmlns="68149696-4bd1-495b-8da1-d1ac8c65b8e4">
      <UserInfo>
        <DisplayName/>
        <AccountId xsi:nil="true"/>
        <AccountType/>
      </UserInfo>
    </person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FB671B067E7F4C8859B3FF73D3A504" ma:contentTypeVersion="20" ma:contentTypeDescription="Create a new document." ma:contentTypeScope="" ma:versionID="7868ab4d37cc7c7b64b15453568e9926">
  <xsd:schema xmlns:xsd="http://www.w3.org/2001/XMLSchema" xmlns:xs="http://www.w3.org/2001/XMLSchema" xmlns:p="http://schemas.microsoft.com/office/2006/metadata/properties" xmlns:ns2="0c413b55-1488-437a-ac0f-bded79925bd6" xmlns:ns3="68149696-4bd1-495b-8da1-d1ac8c65b8e4" targetNamespace="http://schemas.microsoft.com/office/2006/metadata/properties" ma:root="true" ma:fieldsID="f9753666ede3314e52a2e286e33fe11e" ns2:_="" ns3:_="">
    <xsd:import namespace="0c413b55-1488-437a-ac0f-bded79925bd6"/>
    <xsd:import namespace="68149696-4bd1-495b-8da1-d1ac8c65b8e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SearchProperties" minOccurs="0"/>
                <xsd:element ref="ns3:person" minOccurs="0"/>
                <xsd:element ref="ns3:_Flow_SignoffStatus" minOccurs="0"/>
                <xsd:element ref="ns3:Person0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413b55-1488-437a-ac0f-bded79925bd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d2befbb-e59e-4599-8e29-031d8b59e7b5}" ma:internalName="TaxCatchAll" ma:showField="CatchAllData" ma:web="0c413b55-1488-437a-ac0f-bded79925b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49696-4bd1-495b-8da1-d1ac8c65b8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cb25690-5cf5-4301-b89a-3011a2c6a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" ma:index="23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Flow_SignoffStatus" ma:index="24" nillable="true" ma:displayName="Trạng thái kết luận" ma:internalName="Tr_x1ea1_ng_x0020_th_x00e1_i_x0020_k_x1ebf_t_x0020_lu_x1ead_n">
      <xsd:simpleType>
        <xsd:restriction base="dms:Text"/>
      </xsd:simpleType>
    </xsd:element>
    <xsd:element name="Person0" ma:index="25" nillable="true" ma:displayName="Person" ma:format="Dropdown" ma:list="UserInfo" ma:SharePointGroup="0" ma:internalName="Person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D65EDC-3C35-481F-80BA-01EB40B136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DE5F44-0356-4906-9E17-64E20DC82DAC}">
  <ds:schemaRefs>
    <ds:schemaRef ds:uri="0c413b55-1488-437a-ac0f-bded79925bd6"/>
    <ds:schemaRef ds:uri="68149696-4bd1-495b-8da1-d1ac8c65b8e4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384CB74-9543-495B-9759-543B25F79EA6}">
  <ds:schemaRefs>
    <ds:schemaRef ds:uri="0c413b55-1488-437a-ac0f-bded79925bd6"/>
    <ds:schemaRef ds:uri="68149696-4bd1-495b-8da1-d1ac8c65b8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2187</Words>
  <Application>Microsoft Office PowerPoint</Application>
  <PresentationFormat>On-screen Show (16:9)</PresentationFormat>
  <Paragraphs>359</Paragraphs>
  <Slides>20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Montserrat</vt:lpstr>
      <vt:lpstr>Montserrat ExtraBold</vt:lpstr>
      <vt:lpstr>Montserrat Medium</vt:lpstr>
      <vt:lpstr>Montserrat SemiBold</vt:lpstr>
      <vt:lpstr>Roboto</vt:lpstr>
      <vt:lpstr>Symbol</vt:lpstr>
      <vt:lpstr>Times New Roman</vt:lpstr>
      <vt:lpstr>Wingdings</vt:lpstr>
      <vt:lpstr>RKTech (Final)</vt:lpstr>
      <vt:lpstr>RKTech (Final)</vt:lpstr>
      <vt:lpstr>RKTech (Final)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HIEUDTT</dc:creator>
  <dc:description/>
  <cp:lastModifiedBy>Lê Phạm Xuân Trường</cp:lastModifiedBy>
  <cp:revision>46</cp:revision>
  <dcterms:created xsi:type="dcterms:W3CDTF">2025-02-05T08:10:22Z</dcterms:created>
  <dcterms:modified xsi:type="dcterms:W3CDTF">2026-06-18T03:54:33Z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0x01010038FB671B067E7F4C8859B3FF73D3A504</vt:lpwstr>
  </property>
  <property fmtid="{D5CDD505-2E9C-101B-9397-08002B2CF9AE}" pid="3" name="MediaServiceImageTags">
    <vt:lpwstr/>
  </property>
  <property fmtid="{D5CDD505-2E9C-101B-9397-08002B2CF9AE}" pid="4" name="Notes">
    <vt:i4>21</vt:i4>
  </property>
  <property fmtid="{D5CDD505-2E9C-101B-9397-08002B2CF9AE}" pid="5" name="PresentationFormat">
    <vt:lpwstr>On-screen Show (16:9)</vt:lpwstr>
  </property>
  <property fmtid="{D5CDD505-2E9C-101B-9397-08002B2CF9AE}" pid="6" name="Slides">
    <vt:i4>27</vt:i4>
  </property>
</Properties>
</file>